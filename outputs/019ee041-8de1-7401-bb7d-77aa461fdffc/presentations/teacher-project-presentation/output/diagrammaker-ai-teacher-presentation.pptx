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p:cViewPr varScale="1">
        <p:scale>
          <a:sx n="84" d="100"/>
          <a:sy n="84" d="100"/>
        </p:scale>
        <p:origin x="629"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background">
            <a:extLst>
              <a:ext uri="{FF2B5EF4-FFF2-40B4-BE49-F238E27FC236}">
                <a16:creationId xmlns:a16="http://schemas.microsoft.com/office/drawing/2014/main" id="{9FDCC81B-0C5B-4DAC-B768-AE4997402323}"/>
              </a:ext>
            </a:extLst>
          </p:cNvPr>
          <p:cNvSpPr>
            <a:spLocks noGrp="1"/>
          </p:cNvSpPr>
          <p:nvPr/>
        </p:nvSpPr>
        <p:spPr>
          <a:xfrm>
            <a:off x="0" y="0"/>
            <a:ext cx="12192000" cy="6858000"/>
          </a:xfrm>
          <a:prstGeom prst="rect">
            <a:avLst/>
          </a:prstGeom>
          <a:solidFill>
            <a:srgbClr val="F7F3EC"/>
          </a:solidFill>
          <a:ln w="0">
            <a:solidFill>
              <a:srgbClr val="F7F3EC"/>
            </a:solidFill>
            <a:prstDash val="solid"/>
          </a:ln>
        </p:spPr>
      </p:sp>
      <p:sp>
        <p:nvSpPr>
          <p:cNvPr id="2" name="top-band">
            <a:extLst>
              <a:ext uri="{FF2B5EF4-FFF2-40B4-BE49-F238E27FC236}">
                <a16:creationId xmlns:a16="http://schemas.microsoft.com/office/drawing/2014/main" id="{829E3363-2949-40C0-B72C-5E8548AA5D6E}"/>
              </a:ext>
            </a:extLst>
          </p:cNvPr>
          <p:cNvSpPr>
            <a:spLocks noGrp="1"/>
          </p:cNvSpPr>
          <p:nvPr/>
        </p:nvSpPr>
        <p:spPr>
          <a:xfrm>
            <a:off x="0" y="0"/>
            <a:ext cx="12192000" cy="171450"/>
          </a:xfrm>
          <a:prstGeom prst="rect">
            <a:avLst/>
          </a:prstGeom>
          <a:solidFill>
            <a:srgbClr val="17324D"/>
          </a:solidFill>
          <a:ln w="0">
            <a:solidFill>
              <a:srgbClr val="17324D"/>
            </a:solidFill>
            <a:prstDash val="solid"/>
          </a:ln>
        </p:spPr>
      </p:sp>
      <p:sp>
        <p:nvSpPr>
          <p:cNvPr id="3" name="cover-kicker">
            <a:extLst>
              <a:ext uri="{FF2B5EF4-FFF2-40B4-BE49-F238E27FC236}">
                <a16:creationId xmlns:a16="http://schemas.microsoft.com/office/drawing/2014/main" id="{34C44AA9-DBFA-4DE2-84ED-162A664DD185}"/>
              </a:ext>
            </a:extLst>
          </p:cNvPr>
          <p:cNvSpPr>
            <a:spLocks noGrp="1"/>
          </p:cNvSpPr>
          <p:nvPr/>
        </p:nvSpPr>
        <p:spPr>
          <a:xfrm>
            <a:off x="609600" y="800100"/>
            <a:ext cx="133350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1">
                <a:solidFill>
                  <a:srgbClr val="C88A2D"/>
                </a:solidFill>
                <a:latin typeface="Aptos"/>
                <a:ea typeface="Aptos"/>
                <a:cs typeface="Aptos"/>
              </a:defRPr>
            </a:pPr>
            <a:r>
              <a:rPr sz="1200" b="1">
                <a:solidFill>
                  <a:srgbClr val="C88A2D"/>
                </a:solidFill>
                <a:latin typeface="Aptos"/>
                <a:ea typeface="Aptos"/>
                <a:cs typeface="Aptos"/>
              </a:rPr>
              <a:t>PROJECT PRESENTATION</a:t>
            </a:r>
          </a:p>
        </p:txBody>
      </p:sp>
      <p:sp>
        <p:nvSpPr>
          <p:cNvPr id="4" name="title">
            <a:extLst>
              <a:ext uri="{FF2B5EF4-FFF2-40B4-BE49-F238E27FC236}">
                <a16:creationId xmlns:a16="http://schemas.microsoft.com/office/drawing/2014/main" id="{58E5BA68-3D19-4F1F-B411-C6DF05EC7A77}"/>
              </a:ext>
            </a:extLst>
          </p:cNvPr>
          <p:cNvSpPr>
            <a:spLocks noGrp="1"/>
          </p:cNvSpPr>
          <p:nvPr/>
        </p:nvSpPr>
        <p:spPr>
          <a:xfrm>
            <a:off x="609600" y="1181100"/>
            <a:ext cx="5334000" cy="11430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850" b="1">
                <a:solidFill>
                  <a:srgbClr val="102033"/>
                </a:solidFill>
                <a:latin typeface="Aptos Display"/>
                <a:ea typeface="Aptos Display"/>
                <a:cs typeface="Aptos Display"/>
              </a:defRPr>
            </a:pPr>
            <a:r>
              <a:rPr sz="2850" b="1">
                <a:solidFill>
                  <a:srgbClr val="102033"/>
                </a:solidFill>
                <a:latin typeface="Aptos Display"/>
                <a:ea typeface="Aptos Display"/>
                <a:cs typeface="Aptos Display"/>
              </a:rPr>
              <a:t>DiagramMaker AI</a:t>
            </a:r>
          </a:p>
        </p:txBody>
      </p:sp>
      <p:sp>
        <p:nvSpPr>
          <p:cNvPr id="5" name="body">
            <a:extLst>
              <a:ext uri="{FF2B5EF4-FFF2-40B4-BE49-F238E27FC236}">
                <a16:creationId xmlns:a16="http://schemas.microsoft.com/office/drawing/2014/main" id="{1A62B381-AEB9-42E7-BEE7-5855531D300B}"/>
              </a:ext>
            </a:extLst>
          </p:cNvPr>
          <p:cNvSpPr>
            <a:spLocks noGrp="1"/>
          </p:cNvSpPr>
          <p:nvPr/>
        </p:nvSpPr>
        <p:spPr>
          <a:xfrm>
            <a:off x="609600" y="2362200"/>
            <a:ext cx="4953000" cy="12382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0">
                <a:solidFill>
                  <a:srgbClr val="243447"/>
                </a:solidFill>
                <a:latin typeface="Aptos"/>
                <a:ea typeface="Aptos"/>
                <a:cs typeface="Aptos"/>
              </a:defRPr>
            </a:pPr>
            <a:r>
              <a:rPr sz="1575" b="0" dirty="0">
                <a:solidFill>
                  <a:srgbClr val="243447"/>
                </a:solidFill>
                <a:latin typeface="Aptos"/>
                <a:ea typeface="Aptos"/>
                <a:cs typeface="Aptos"/>
              </a:rPr>
              <a:t>An AI-assisted workspace that helps users discuss, build, and edit diagrams more easily. The aim is to make system design clearer, faster, and more organized.</a:t>
            </a:r>
          </a:p>
        </p:txBody>
      </p:sp>
      <p:sp>
        <p:nvSpPr>
          <p:cNvPr id="6" name="cover-panel">
            <a:extLst>
              <a:ext uri="{FF2B5EF4-FFF2-40B4-BE49-F238E27FC236}">
                <a16:creationId xmlns:a16="http://schemas.microsoft.com/office/drawing/2014/main" id="{5447091C-7AD6-4D93-9030-D605EC0486EF}"/>
              </a:ext>
            </a:extLst>
          </p:cNvPr>
          <p:cNvSpPr>
            <a:spLocks noGrp="1"/>
          </p:cNvSpPr>
          <p:nvPr/>
        </p:nvSpPr>
        <p:spPr>
          <a:xfrm>
            <a:off x="6858000" y="895350"/>
            <a:ext cx="4476750" cy="4953000"/>
          </a:xfrm>
          <a:prstGeom prst="rect">
            <a:avLst/>
          </a:prstGeom>
          <a:solidFill>
            <a:srgbClr val="FFFFFF"/>
          </a:solidFill>
          <a:ln w="9525">
            <a:solidFill>
              <a:srgbClr val="DCEAF7"/>
            </a:solidFill>
            <a:prstDash val="solid"/>
          </a:ln>
        </p:spPr>
      </p:sp>
      <p:sp>
        <p:nvSpPr>
          <p:cNvPr id="7" name="snapshot-title">
            <a:extLst>
              <a:ext uri="{FF2B5EF4-FFF2-40B4-BE49-F238E27FC236}">
                <a16:creationId xmlns:a16="http://schemas.microsoft.com/office/drawing/2014/main" id="{28EF2855-54FD-4EB1-B21A-9E72270926DB}"/>
              </a:ext>
            </a:extLst>
          </p:cNvPr>
          <p:cNvSpPr>
            <a:spLocks noGrp="1"/>
          </p:cNvSpPr>
          <p:nvPr/>
        </p:nvSpPr>
        <p:spPr>
          <a:xfrm>
            <a:off x="7239000" y="1219200"/>
            <a:ext cx="371475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1">
                <a:solidFill>
                  <a:srgbClr val="102033"/>
                </a:solidFill>
                <a:latin typeface="Aptos Display"/>
                <a:ea typeface="Aptos Display"/>
                <a:cs typeface="Aptos Display"/>
              </a:defRPr>
            </a:pPr>
            <a:r>
              <a:rPr sz="1800" b="1">
                <a:solidFill>
                  <a:srgbClr val="102033"/>
                </a:solidFill>
                <a:latin typeface="Aptos Display"/>
                <a:ea typeface="Aptos Display"/>
                <a:cs typeface="Aptos Display"/>
              </a:rPr>
              <a:t>Project Snapshot</a:t>
            </a:r>
          </a:p>
        </p:txBody>
      </p:sp>
      <p:sp>
        <p:nvSpPr>
          <p:cNvPr id="8" name="metric-chip">
            <a:extLst>
              <a:ext uri="{FF2B5EF4-FFF2-40B4-BE49-F238E27FC236}">
                <a16:creationId xmlns:a16="http://schemas.microsoft.com/office/drawing/2014/main" id="{486E8AD1-E987-4CE5-9933-214C795EF1D3}"/>
              </a:ext>
            </a:extLst>
          </p:cNvPr>
          <p:cNvSpPr>
            <a:spLocks noGrp="1"/>
          </p:cNvSpPr>
          <p:nvPr/>
        </p:nvSpPr>
        <p:spPr>
          <a:xfrm>
            <a:off x="7239000" y="1847850"/>
            <a:ext cx="1714500" cy="876300"/>
          </a:xfrm>
          <a:prstGeom prst="rect">
            <a:avLst/>
          </a:prstGeom>
          <a:solidFill>
            <a:srgbClr val="FFFFFF"/>
          </a:solidFill>
          <a:ln w="9525">
            <a:solidFill>
              <a:srgbClr val="DCEAF7"/>
            </a:solidFill>
            <a:prstDash val="solid"/>
          </a:ln>
        </p:spPr>
      </p:sp>
      <p:sp>
        <p:nvSpPr>
          <p:cNvPr id="9" name="metric-chip-value">
            <a:extLst>
              <a:ext uri="{FF2B5EF4-FFF2-40B4-BE49-F238E27FC236}">
                <a16:creationId xmlns:a16="http://schemas.microsoft.com/office/drawing/2014/main" id="{411681A8-D1A3-4D4A-85CC-282609A46805}"/>
              </a:ext>
            </a:extLst>
          </p:cNvPr>
          <p:cNvSpPr>
            <a:spLocks noGrp="1"/>
          </p:cNvSpPr>
          <p:nvPr/>
        </p:nvSpPr>
        <p:spPr>
          <a:xfrm>
            <a:off x="7410450" y="1981200"/>
            <a:ext cx="137160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950" b="1">
                <a:solidFill>
                  <a:srgbClr val="17324D"/>
                </a:solidFill>
                <a:latin typeface="Aptos Display"/>
                <a:ea typeface="Aptos Display"/>
                <a:cs typeface="Aptos Display"/>
              </a:defRPr>
            </a:pPr>
            <a:r>
              <a:rPr sz="1950" b="1">
                <a:solidFill>
                  <a:srgbClr val="17324D"/>
                </a:solidFill>
                <a:latin typeface="Aptos Display"/>
                <a:ea typeface="Aptos Display"/>
                <a:cs typeface="Aptos Display"/>
              </a:rPr>
              <a:t>1</a:t>
            </a:r>
          </a:p>
        </p:txBody>
      </p:sp>
      <p:sp>
        <p:nvSpPr>
          <p:cNvPr id="10" name="metric-chip-label">
            <a:extLst>
              <a:ext uri="{FF2B5EF4-FFF2-40B4-BE49-F238E27FC236}">
                <a16:creationId xmlns:a16="http://schemas.microsoft.com/office/drawing/2014/main" id="{01286F81-667D-4461-931F-BE2B5ADD0C14}"/>
              </a:ext>
            </a:extLst>
          </p:cNvPr>
          <p:cNvSpPr>
            <a:spLocks noGrp="1"/>
          </p:cNvSpPr>
          <p:nvPr/>
        </p:nvSpPr>
        <p:spPr>
          <a:xfrm>
            <a:off x="7410450" y="2286000"/>
            <a:ext cx="1371600" cy="3429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0">
                <a:solidFill>
                  <a:srgbClr val="667788"/>
                </a:solidFill>
                <a:latin typeface="Aptos"/>
                <a:ea typeface="Aptos"/>
                <a:cs typeface="Aptos"/>
              </a:defRPr>
            </a:pPr>
            <a:r>
              <a:rPr sz="1125" b="0">
                <a:solidFill>
                  <a:srgbClr val="667788"/>
                </a:solidFill>
                <a:latin typeface="Aptos"/>
                <a:ea typeface="Aptos"/>
                <a:cs typeface="Aptos"/>
              </a:rPr>
              <a:t>Clear idea: convert user needs into a diagram</a:t>
            </a:r>
          </a:p>
        </p:txBody>
      </p:sp>
      <p:sp>
        <p:nvSpPr>
          <p:cNvPr id="11" name="metric-chip">
            <a:extLst>
              <a:ext uri="{FF2B5EF4-FFF2-40B4-BE49-F238E27FC236}">
                <a16:creationId xmlns:a16="http://schemas.microsoft.com/office/drawing/2014/main" id="{5D238EEF-BAFE-412B-A28A-775521EA6CA6}"/>
              </a:ext>
            </a:extLst>
          </p:cNvPr>
          <p:cNvSpPr>
            <a:spLocks noGrp="1"/>
          </p:cNvSpPr>
          <p:nvPr/>
        </p:nvSpPr>
        <p:spPr>
          <a:xfrm>
            <a:off x="9096375" y="1847850"/>
            <a:ext cx="1714500" cy="876300"/>
          </a:xfrm>
          <a:prstGeom prst="rect">
            <a:avLst/>
          </a:prstGeom>
          <a:solidFill>
            <a:srgbClr val="FFFFFF"/>
          </a:solidFill>
          <a:ln w="9525">
            <a:solidFill>
              <a:srgbClr val="DCEAF7"/>
            </a:solidFill>
            <a:prstDash val="solid"/>
          </a:ln>
        </p:spPr>
      </p:sp>
      <p:sp>
        <p:nvSpPr>
          <p:cNvPr id="12" name="metric-chip-value">
            <a:extLst>
              <a:ext uri="{FF2B5EF4-FFF2-40B4-BE49-F238E27FC236}">
                <a16:creationId xmlns:a16="http://schemas.microsoft.com/office/drawing/2014/main" id="{D3F9C34D-F95C-47A5-BE36-4ABCC4FBDB52}"/>
              </a:ext>
            </a:extLst>
          </p:cNvPr>
          <p:cNvSpPr>
            <a:spLocks noGrp="1"/>
          </p:cNvSpPr>
          <p:nvPr/>
        </p:nvSpPr>
        <p:spPr>
          <a:xfrm>
            <a:off x="9267825" y="1981200"/>
            <a:ext cx="137160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950" b="1">
                <a:solidFill>
                  <a:srgbClr val="17324D"/>
                </a:solidFill>
                <a:latin typeface="Aptos Display"/>
                <a:ea typeface="Aptos Display"/>
                <a:cs typeface="Aptos Display"/>
              </a:defRPr>
            </a:pPr>
            <a:r>
              <a:rPr sz="1950" b="1">
                <a:solidFill>
                  <a:srgbClr val="17324D"/>
                </a:solidFill>
                <a:latin typeface="Aptos Display"/>
                <a:ea typeface="Aptos Display"/>
                <a:cs typeface="Aptos Display"/>
              </a:rPr>
              <a:t>3</a:t>
            </a:r>
          </a:p>
        </p:txBody>
      </p:sp>
      <p:sp>
        <p:nvSpPr>
          <p:cNvPr id="13" name="metric-chip-label">
            <a:extLst>
              <a:ext uri="{FF2B5EF4-FFF2-40B4-BE49-F238E27FC236}">
                <a16:creationId xmlns:a16="http://schemas.microsoft.com/office/drawing/2014/main" id="{F2724A50-7DD4-4325-9146-149CDC09870F}"/>
              </a:ext>
            </a:extLst>
          </p:cNvPr>
          <p:cNvSpPr>
            <a:spLocks noGrp="1"/>
          </p:cNvSpPr>
          <p:nvPr/>
        </p:nvSpPr>
        <p:spPr>
          <a:xfrm>
            <a:off x="9267825" y="2286000"/>
            <a:ext cx="1371600" cy="3429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0">
                <a:solidFill>
                  <a:srgbClr val="667788"/>
                </a:solidFill>
                <a:latin typeface="Aptos"/>
                <a:ea typeface="Aptos"/>
                <a:cs typeface="Aptos"/>
              </a:defRPr>
            </a:pPr>
            <a:r>
              <a:rPr sz="1125" b="0">
                <a:solidFill>
                  <a:srgbClr val="667788"/>
                </a:solidFill>
                <a:latin typeface="Aptos"/>
                <a:ea typeface="Aptos"/>
                <a:cs typeface="Aptos"/>
              </a:rPr>
              <a:t>Main parts: chat, canvas, and saved design state</a:t>
            </a:r>
          </a:p>
        </p:txBody>
      </p:sp>
      <p:sp>
        <p:nvSpPr>
          <p:cNvPr id="14" name="metric-chip">
            <a:extLst>
              <a:ext uri="{FF2B5EF4-FFF2-40B4-BE49-F238E27FC236}">
                <a16:creationId xmlns:a16="http://schemas.microsoft.com/office/drawing/2014/main" id="{14768672-CC8D-4524-A5A5-F99151FBAE06}"/>
              </a:ext>
            </a:extLst>
          </p:cNvPr>
          <p:cNvSpPr>
            <a:spLocks noGrp="1"/>
          </p:cNvSpPr>
          <p:nvPr/>
        </p:nvSpPr>
        <p:spPr>
          <a:xfrm>
            <a:off x="7239000" y="2876550"/>
            <a:ext cx="1714500" cy="876300"/>
          </a:xfrm>
          <a:prstGeom prst="rect">
            <a:avLst/>
          </a:prstGeom>
          <a:solidFill>
            <a:srgbClr val="FFFFFF"/>
          </a:solidFill>
          <a:ln w="9525">
            <a:solidFill>
              <a:srgbClr val="DCEAF7"/>
            </a:solidFill>
            <a:prstDash val="solid"/>
          </a:ln>
        </p:spPr>
      </p:sp>
      <p:sp>
        <p:nvSpPr>
          <p:cNvPr id="15" name="metric-chip-value">
            <a:extLst>
              <a:ext uri="{FF2B5EF4-FFF2-40B4-BE49-F238E27FC236}">
                <a16:creationId xmlns:a16="http://schemas.microsoft.com/office/drawing/2014/main" id="{EDAF0AE7-5B9C-4188-8E45-03F4B91CA58C}"/>
              </a:ext>
            </a:extLst>
          </p:cNvPr>
          <p:cNvSpPr>
            <a:spLocks noGrp="1"/>
          </p:cNvSpPr>
          <p:nvPr/>
        </p:nvSpPr>
        <p:spPr>
          <a:xfrm>
            <a:off x="7410450" y="3009900"/>
            <a:ext cx="137160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950" b="1">
                <a:solidFill>
                  <a:srgbClr val="17324D"/>
                </a:solidFill>
                <a:latin typeface="Aptos Display"/>
                <a:ea typeface="Aptos Display"/>
                <a:cs typeface="Aptos Display"/>
              </a:defRPr>
            </a:pPr>
            <a:r>
              <a:rPr sz="1950" b="1">
                <a:solidFill>
                  <a:srgbClr val="17324D"/>
                </a:solidFill>
                <a:latin typeface="Aptos Display"/>
                <a:ea typeface="Aptos Display"/>
                <a:cs typeface="Aptos Display"/>
              </a:rPr>
              <a:t>Easy</a:t>
            </a:r>
          </a:p>
        </p:txBody>
      </p:sp>
      <p:sp>
        <p:nvSpPr>
          <p:cNvPr id="16" name="metric-chip-label">
            <a:extLst>
              <a:ext uri="{FF2B5EF4-FFF2-40B4-BE49-F238E27FC236}">
                <a16:creationId xmlns:a16="http://schemas.microsoft.com/office/drawing/2014/main" id="{476ADC05-8061-4B71-945D-FC706CDA8ECA}"/>
              </a:ext>
            </a:extLst>
          </p:cNvPr>
          <p:cNvSpPr>
            <a:spLocks noGrp="1"/>
          </p:cNvSpPr>
          <p:nvPr/>
        </p:nvSpPr>
        <p:spPr>
          <a:xfrm>
            <a:off x="7410450" y="3314700"/>
            <a:ext cx="1371600" cy="3429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0">
                <a:solidFill>
                  <a:srgbClr val="667788"/>
                </a:solidFill>
                <a:latin typeface="Aptos"/>
                <a:ea typeface="Aptos"/>
                <a:cs typeface="Aptos"/>
              </a:defRPr>
            </a:pPr>
            <a:r>
              <a:rPr sz="1125" b="0">
                <a:solidFill>
                  <a:srgbClr val="667788"/>
                </a:solidFill>
                <a:latin typeface="Aptos"/>
                <a:ea typeface="Aptos"/>
                <a:cs typeface="Aptos"/>
              </a:rPr>
              <a:t>Designed to be simpler than manual diagram planning</a:t>
            </a:r>
          </a:p>
        </p:txBody>
      </p:sp>
      <p:sp>
        <p:nvSpPr>
          <p:cNvPr id="17" name="metric-chip">
            <a:extLst>
              <a:ext uri="{FF2B5EF4-FFF2-40B4-BE49-F238E27FC236}">
                <a16:creationId xmlns:a16="http://schemas.microsoft.com/office/drawing/2014/main" id="{37ABB34A-2276-4B4F-8363-CD9DBA0C8FF0}"/>
              </a:ext>
            </a:extLst>
          </p:cNvPr>
          <p:cNvSpPr>
            <a:spLocks noGrp="1"/>
          </p:cNvSpPr>
          <p:nvPr/>
        </p:nvSpPr>
        <p:spPr>
          <a:xfrm>
            <a:off x="9096375" y="2876550"/>
            <a:ext cx="1714500" cy="876300"/>
          </a:xfrm>
          <a:prstGeom prst="rect">
            <a:avLst/>
          </a:prstGeom>
          <a:solidFill>
            <a:srgbClr val="FFFFFF"/>
          </a:solidFill>
          <a:ln w="9525">
            <a:solidFill>
              <a:srgbClr val="DCEAF7"/>
            </a:solidFill>
            <a:prstDash val="solid"/>
          </a:ln>
        </p:spPr>
      </p:sp>
      <p:sp>
        <p:nvSpPr>
          <p:cNvPr id="18" name="metric-chip-value">
            <a:extLst>
              <a:ext uri="{FF2B5EF4-FFF2-40B4-BE49-F238E27FC236}">
                <a16:creationId xmlns:a16="http://schemas.microsoft.com/office/drawing/2014/main" id="{AB73ED67-24CA-4CFD-A374-EE64CEA86403}"/>
              </a:ext>
            </a:extLst>
          </p:cNvPr>
          <p:cNvSpPr>
            <a:spLocks noGrp="1"/>
          </p:cNvSpPr>
          <p:nvPr/>
        </p:nvSpPr>
        <p:spPr>
          <a:xfrm>
            <a:off x="9267825" y="3009900"/>
            <a:ext cx="137160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950" b="1">
                <a:solidFill>
                  <a:srgbClr val="17324D"/>
                </a:solidFill>
                <a:latin typeface="Aptos Display"/>
                <a:ea typeface="Aptos Display"/>
                <a:cs typeface="Aptos Display"/>
              </a:defRPr>
            </a:pPr>
            <a:r>
              <a:rPr sz="1950" b="1">
                <a:solidFill>
                  <a:srgbClr val="17324D"/>
                </a:solidFill>
                <a:latin typeface="Aptos Display"/>
                <a:ea typeface="Aptos Display"/>
                <a:cs typeface="Aptos Display"/>
              </a:rPr>
              <a:t>Live</a:t>
            </a:r>
          </a:p>
        </p:txBody>
      </p:sp>
      <p:sp>
        <p:nvSpPr>
          <p:cNvPr id="19" name="metric-chip-label">
            <a:extLst>
              <a:ext uri="{FF2B5EF4-FFF2-40B4-BE49-F238E27FC236}">
                <a16:creationId xmlns:a16="http://schemas.microsoft.com/office/drawing/2014/main" id="{7C8F4EAC-D9A1-4807-87F6-7DC925600A51}"/>
              </a:ext>
            </a:extLst>
          </p:cNvPr>
          <p:cNvSpPr>
            <a:spLocks noGrp="1"/>
          </p:cNvSpPr>
          <p:nvPr/>
        </p:nvSpPr>
        <p:spPr>
          <a:xfrm>
            <a:off x="9267825" y="3314700"/>
            <a:ext cx="1371600" cy="3429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0">
                <a:solidFill>
                  <a:srgbClr val="667788"/>
                </a:solidFill>
                <a:latin typeface="Aptos"/>
                <a:ea typeface="Aptos"/>
                <a:cs typeface="Aptos"/>
              </a:defRPr>
            </a:pPr>
            <a:r>
              <a:rPr sz="1125" b="0">
                <a:solidFill>
                  <a:srgbClr val="667788"/>
                </a:solidFill>
                <a:latin typeface="Aptos"/>
                <a:ea typeface="Aptos"/>
                <a:cs typeface="Aptos"/>
              </a:rPr>
              <a:t>Users can keep editing the design step by step</a:t>
            </a:r>
          </a:p>
        </p:txBody>
      </p:sp>
      <p:sp>
        <p:nvSpPr>
          <p:cNvPr id="20" name="snapshot-body">
            <a:extLst>
              <a:ext uri="{FF2B5EF4-FFF2-40B4-BE49-F238E27FC236}">
                <a16:creationId xmlns:a16="http://schemas.microsoft.com/office/drawing/2014/main" id="{4F3ACA6D-6A4D-4D04-89E1-541C0BD4DA6B}"/>
              </a:ext>
            </a:extLst>
          </p:cNvPr>
          <p:cNvSpPr>
            <a:spLocks noGrp="1"/>
          </p:cNvSpPr>
          <p:nvPr/>
        </p:nvSpPr>
        <p:spPr>
          <a:xfrm>
            <a:off x="7239000" y="4114800"/>
            <a:ext cx="3619500" cy="1123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0">
                <a:solidFill>
                  <a:srgbClr val="243447"/>
                </a:solidFill>
                <a:latin typeface="Aptos"/>
                <a:ea typeface="Aptos"/>
                <a:cs typeface="Aptos"/>
              </a:defRPr>
            </a:pPr>
            <a:r>
              <a:rPr sz="1350" b="0">
                <a:solidFill>
                  <a:srgbClr val="243447"/>
                </a:solidFill>
                <a:latin typeface="Aptos"/>
                <a:ea typeface="Aptos"/>
                <a:cs typeface="Aptos"/>
              </a:rPr>
              <a:t>This project is useful for students, beginners, and teams that want a faster way to think about architecture and visual planning without starting from a blank page every time.</a:t>
            </a:r>
          </a:p>
        </p:txBody>
      </p:sp>
      <p:sp>
        <p:nvSpPr>
          <p:cNvPr id="21" name="footer">
            <a:extLst>
              <a:ext uri="{FF2B5EF4-FFF2-40B4-BE49-F238E27FC236}">
                <a16:creationId xmlns:a16="http://schemas.microsoft.com/office/drawing/2014/main" id="{FEC9BAA8-D01B-46A0-97AC-21FE3615D96E}"/>
              </a:ext>
            </a:extLst>
          </p:cNvPr>
          <p:cNvSpPr>
            <a:spLocks noGrp="1"/>
          </p:cNvSpPr>
          <p:nvPr/>
        </p:nvSpPr>
        <p:spPr>
          <a:xfrm>
            <a:off x="609600" y="6515100"/>
            <a:ext cx="49530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0">
                <a:solidFill>
                  <a:srgbClr val="7A8793"/>
                </a:solidFill>
                <a:latin typeface="Aptos"/>
                <a:ea typeface="Aptos"/>
                <a:cs typeface="Aptos"/>
              </a:defRPr>
            </a:pPr>
            <a:r>
              <a:rPr sz="750" b="0">
                <a:solidFill>
                  <a:srgbClr val="7A8793"/>
                </a:solidFill>
                <a:latin typeface="Aptos"/>
                <a:ea typeface="Aptos"/>
                <a:cs typeface="Aptos"/>
              </a:rPr>
              <a:t>AI Based Diagram Maker</a:t>
            </a:r>
          </a:p>
        </p:txBody>
      </p:sp>
    </p:spTree>
    <p:extLst>
      <p:ext uri="{BB962C8B-B14F-4D97-AF65-F5344CB8AC3E}">
        <p14:creationId xmlns:p14="http://schemas.microsoft.com/office/powerpoint/2010/main" val="265456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background">
            <a:extLst>
              <a:ext uri="{FF2B5EF4-FFF2-40B4-BE49-F238E27FC236}">
                <a16:creationId xmlns:a16="http://schemas.microsoft.com/office/drawing/2014/main" id="{378E5921-76DB-47ED-871B-AFD012F21419}"/>
              </a:ext>
            </a:extLst>
          </p:cNvPr>
          <p:cNvSpPr>
            <a:spLocks noGrp="1"/>
          </p:cNvSpPr>
          <p:nvPr/>
        </p:nvSpPr>
        <p:spPr>
          <a:xfrm>
            <a:off x="0" y="0"/>
            <a:ext cx="12192000" cy="6858000"/>
          </a:xfrm>
          <a:prstGeom prst="rect">
            <a:avLst/>
          </a:prstGeom>
          <a:solidFill>
            <a:srgbClr val="F7F3EC"/>
          </a:solidFill>
          <a:ln w="0">
            <a:solidFill>
              <a:srgbClr val="F7F3EC"/>
            </a:solidFill>
            <a:prstDash val="solid"/>
          </a:ln>
        </p:spPr>
      </p:sp>
      <p:sp>
        <p:nvSpPr>
          <p:cNvPr id="2" name="top-band">
            <a:extLst>
              <a:ext uri="{FF2B5EF4-FFF2-40B4-BE49-F238E27FC236}">
                <a16:creationId xmlns:a16="http://schemas.microsoft.com/office/drawing/2014/main" id="{9651C46F-99C6-4AA6-B4DB-5F4E61F1DD3C}"/>
              </a:ext>
            </a:extLst>
          </p:cNvPr>
          <p:cNvSpPr>
            <a:spLocks noGrp="1"/>
          </p:cNvSpPr>
          <p:nvPr/>
        </p:nvSpPr>
        <p:spPr>
          <a:xfrm>
            <a:off x="0" y="0"/>
            <a:ext cx="12192000" cy="171450"/>
          </a:xfrm>
          <a:prstGeom prst="rect">
            <a:avLst/>
          </a:prstGeom>
          <a:solidFill>
            <a:srgbClr val="17324D"/>
          </a:solidFill>
          <a:ln w="0">
            <a:solidFill>
              <a:srgbClr val="17324D"/>
            </a:solidFill>
            <a:prstDash val="solid"/>
          </a:ln>
        </p:spPr>
      </p:sp>
      <p:sp>
        <p:nvSpPr>
          <p:cNvPr id="3" name="kicker-marker">
            <a:extLst>
              <a:ext uri="{FF2B5EF4-FFF2-40B4-BE49-F238E27FC236}">
                <a16:creationId xmlns:a16="http://schemas.microsoft.com/office/drawing/2014/main" id="{758447CB-FC04-4521-8EA7-501C5DF1262F}"/>
              </a:ext>
            </a:extLst>
          </p:cNvPr>
          <p:cNvSpPr>
            <a:spLocks noGrp="1"/>
          </p:cNvSpPr>
          <p:nvPr/>
        </p:nvSpPr>
        <p:spPr>
          <a:xfrm>
            <a:off x="609600" y="533400"/>
            <a:ext cx="571500" cy="114300"/>
          </a:xfrm>
          <a:prstGeom prst="rect">
            <a:avLst/>
          </a:prstGeom>
          <a:solidFill>
            <a:srgbClr val="C88A2D"/>
          </a:solidFill>
          <a:ln w="0">
            <a:solidFill>
              <a:srgbClr val="C88A2D"/>
            </a:solidFill>
            <a:prstDash val="solid"/>
          </a:ln>
        </p:spPr>
      </p:sp>
      <p:sp>
        <p:nvSpPr>
          <p:cNvPr id="4" name="kicker-label">
            <a:extLst>
              <a:ext uri="{FF2B5EF4-FFF2-40B4-BE49-F238E27FC236}">
                <a16:creationId xmlns:a16="http://schemas.microsoft.com/office/drawing/2014/main" id="{7CCABEC1-9917-4057-BA19-A478342083F0}"/>
              </a:ext>
            </a:extLst>
          </p:cNvPr>
          <p:cNvSpPr>
            <a:spLocks noGrp="1"/>
          </p:cNvSpPr>
          <p:nvPr/>
        </p:nvSpPr>
        <p:spPr>
          <a:xfrm>
            <a:off x="1295400" y="381000"/>
            <a:ext cx="2476500" cy="4191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1">
                <a:solidFill>
                  <a:srgbClr val="2E5B88"/>
                </a:solidFill>
                <a:latin typeface="Aptos"/>
                <a:ea typeface="Aptos"/>
                <a:cs typeface="Aptos"/>
              </a:defRPr>
            </a:pPr>
            <a:r>
              <a:rPr sz="1275" b="1">
                <a:solidFill>
                  <a:srgbClr val="2E5B88"/>
                </a:solidFill>
                <a:latin typeface="Aptos"/>
                <a:ea typeface="Aptos"/>
                <a:cs typeface="Aptos"/>
              </a:rPr>
              <a:t>PROBLEM STATEMENT</a:t>
            </a:r>
          </a:p>
        </p:txBody>
      </p:sp>
      <p:sp>
        <p:nvSpPr>
          <p:cNvPr id="5" name="title">
            <a:extLst>
              <a:ext uri="{FF2B5EF4-FFF2-40B4-BE49-F238E27FC236}">
                <a16:creationId xmlns:a16="http://schemas.microsoft.com/office/drawing/2014/main" id="{BEF18C16-04D5-4E51-A30C-68026C7D7171}"/>
              </a:ext>
            </a:extLst>
          </p:cNvPr>
          <p:cNvSpPr>
            <a:spLocks noGrp="1"/>
          </p:cNvSpPr>
          <p:nvPr/>
        </p:nvSpPr>
        <p:spPr>
          <a:xfrm>
            <a:off x="609600" y="933450"/>
            <a:ext cx="6096000" cy="876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250" b="1">
                <a:solidFill>
                  <a:srgbClr val="102033"/>
                </a:solidFill>
                <a:latin typeface="Aptos Display"/>
                <a:ea typeface="Aptos Display"/>
                <a:cs typeface="Aptos Display"/>
              </a:defRPr>
            </a:pPr>
            <a:r>
              <a:rPr sz="2250" b="1" dirty="0">
                <a:solidFill>
                  <a:srgbClr val="102033"/>
                </a:solidFill>
                <a:latin typeface="Aptos Display"/>
                <a:ea typeface="Aptos Display"/>
                <a:cs typeface="Aptos Display"/>
              </a:rPr>
              <a:t>Creating system diagrams is often slow, confusing, and difficult for beginners.</a:t>
            </a:r>
          </a:p>
        </p:txBody>
      </p:sp>
      <p:sp>
        <p:nvSpPr>
          <p:cNvPr id="6" name="body">
            <a:extLst>
              <a:ext uri="{FF2B5EF4-FFF2-40B4-BE49-F238E27FC236}">
                <a16:creationId xmlns:a16="http://schemas.microsoft.com/office/drawing/2014/main" id="{C1991D95-CB30-47A5-842D-21155257D08C}"/>
              </a:ext>
            </a:extLst>
          </p:cNvPr>
          <p:cNvSpPr>
            <a:spLocks noGrp="1"/>
          </p:cNvSpPr>
          <p:nvPr/>
        </p:nvSpPr>
        <p:spPr>
          <a:xfrm>
            <a:off x="609600" y="1962150"/>
            <a:ext cx="4953000" cy="914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650" b="0">
                <a:solidFill>
                  <a:srgbClr val="243447"/>
                </a:solidFill>
                <a:latin typeface="Aptos"/>
                <a:ea typeface="Aptos"/>
                <a:cs typeface="Aptos"/>
              </a:defRPr>
            </a:pPr>
            <a:r>
              <a:rPr sz="1650" b="0" dirty="0">
                <a:solidFill>
                  <a:srgbClr val="243447"/>
                </a:solidFill>
                <a:latin typeface="Aptos"/>
                <a:ea typeface="Aptos"/>
                <a:cs typeface="Aptos"/>
              </a:rPr>
              <a:t>Many students and early-stage project teams know what they want to build, but they struggle to turn that idea into a clear visual diagram.</a:t>
            </a:r>
          </a:p>
        </p:txBody>
      </p:sp>
      <p:sp>
        <p:nvSpPr>
          <p:cNvPr id="7" name="problem-1">
            <a:extLst>
              <a:ext uri="{FF2B5EF4-FFF2-40B4-BE49-F238E27FC236}">
                <a16:creationId xmlns:a16="http://schemas.microsoft.com/office/drawing/2014/main" id="{67837950-CCCF-4441-A4AD-1DF6A59EBC33}"/>
              </a:ext>
            </a:extLst>
          </p:cNvPr>
          <p:cNvSpPr>
            <a:spLocks noGrp="1"/>
          </p:cNvSpPr>
          <p:nvPr/>
        </p:nvSpPr>
        <p:spPr>
          <a:xfrm>
            <a:off x="6572250" y="1238250"/>
            <a:ext cx="4381500" cy="1123950"/>
          </a:xfrm>
          <a:prstGeom prst="rect">
            <a:avLst/>
          </a:prstGeom>
          <a:solidFill>
            <a:srgbClr val="F6E0D9"/>
          </a:solidFill>
          <a:ln w="9525">
            <a:solidFill>
              <a:srgbClr val="F6E0D9"/>
            </a:solidFill>
            <a:prstDash val="solid"/>
          </a:ln>
        </p:spPr>
      </p:sp>
      <p:sp>
        <p:nvSpPr>
          <p:cNvPr id="8" name="problem-1-title">
            <a:extLst>
              <a:ext uri="{FF2B5EF4-FFF2-40B4-BE49-F238E27FC236}">
                <a16:creationId xmlns:a16="http://schemas.microsoft.com/office/drawing/2014/main" id="{BEA3F3DA-7031-4BA1-B209-943C81735124}"/>
              </a:ext>
            </a:extLst>
          </p:cNvPr>
          <p:cNvSpPr>
            <a:spLocks noGrp="1"/>
          </p:cNvSpPr>
          <p:nvPr/>
        </p:nvSpPr>
        <p:spPr>
          <a:xfrm>
            <a:off x="6762750" y="1409700"/>
            <a:ext cx="40005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00" b="1">
                <a:solidFill>
                  <a:srgbClr val="102033"/>
                </a:solidFill>
                <a:latin typeface="Aptos"/>
                <a:ea typeface="Aptos"/>
                <a:cs typeface="Aptos"/>
              </a:defRPr>
            </a:pPr>
            <a:r>
              <a:rPr sz="1500" b="1">
                <a:solidFill>
                  <a:srgbClr val="102033"/>
                </a:solidFill>
                <a:latin typeface="Aptos"/>
                <a:ea typeface="Aptos"/>
                <a:cs typeface="Aptos"/>
              </a:rPr>
              <a:t>Blank page problem</a:t>
            </a:r>
          </a:p>
        </p:txBody>
      </p:sp>
      <p:sp>
        <p:nvSpPr>
          <p:cNvPr id="9" name="problem-1-body">
            <a:extLst>
              <a:ext uri="{FF2B5EF4-FFF2-40B4-BE49-F238E27FC236}">
                <a16:creationId xmlns:a16="http://schemas.microsoft.com/office/drawing/2014/main" id="{E2BB9512-6CAB-48AC-A6EA-7FA13E1FC7AE}"/>
              </a:ext>
            </a:extLst>
          </p:cNvPr>
          <p:cNvSpPr>
            <a:spLocks noGrp="1"/>
          </p:cNvSpPr>
          <p:nvPr/>
        </p:nvSpPr>
        <p:spPr>
          <a:xfrm>
            <a:off x="6762750" y="1790700"/>
            <a:ext cx="4000500"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0">
                <a:solidFill>
                  <a:srgbClr val="243447"/>
                </a:solidFill>
                <a:latin typeface="Aptos"/>
                <a:ea typeface="Aptos"/>
                <a:cs typeface="Aptos"/>
              </a:defRPr>
            </a:pPr>
            <a:r>
              <a:rPr sz="1350" b="0">
                <a:solidFill>
                  <a:srgbClr val="243447"/>
                </a:solidFill>
                <a:latin typeface="Aptos"/>
                <a:ea typeface="Aptos"/>
                <a:cs typeface="Aptos"/>
              </a:rPr>
              <a:t>Users often do not know where to begin when drawing an architecture or flow diagram.</a:t>
            </a:r>
          </a:p>
        </p:txBody>
      </p:sp>
      <p:sp>
        <p:nvSpPr>
          <p:cNvPr id="10" name="problem-2">
            <a:extLst>
              <a:ext uri="{FF2B5EF4-FFF2-40B4-BE49-F238E27FC236}">
                <a16:creationId xmlns:a16="http://schemas.microsoft.com/office/drawing/2014/main" id="{1C7259A6-9910-4BA8-87E8-3DC3E216B60C}"/>
              </a:ext>
            </a:extLst>
          </p:cNvPr>
          <p:cNvSpPr>
            <a:spLocks noGrp="1"/>
          </p:cNvSpPr>
          <p:nvPr/>
        </p:nvSpPr>
        <p:spPr>
          <a:xfrm>
            <a:off x="6572250" y="2590800"/>
            <a:ext cx="4381500" cy="1123950"/>
          </a:xfrm>
          <a:prstGeom prst="rect">
            <a:avLst/>
          </a:prstGeom>
          <a:solidFill>
            <a:srgbClr val="DCEAF7"/>
          </a:solidFill>
          <a:ln w="9525">
            <a:solidFill>
              <a:srgbClr val="DCEAF7"/>
            </a:solidFill>
            <a:prstDash val="solid"/>
          </a:ln>
        </p:spPr>
      </p:sp>
      <p:sp>
        <p:nvSpPr>
          <p:cNvPr id="11" name="problem-2-title">
            <a:extLst>
              <a:ext uri="{FF2B5EF4-FFF2-40B4-BE49-F238E27FC236}">
                <a16:creationId xmlns:a16="http://schemas.microsoft.com/office/drawing/2014/main" id="{6211ED67-E454-4BB7-8E2C-EEE6C9FE085F}"/>
              </a:ext>
            </a:extLst>
          </p:cNvPr>
          <p:cNvSpPr>
            <a:spLocks noGrp="1"/>
          </p:cNvSpPr>
          <p:nvPr/>
        </p:nvSpPr>
        <p:spPr>
          <a:xfrm>
            <a:off x="6762750" y="2762250"/>
            <a:ext cx="40005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00" b="1">
                <a:solidFill>
                  <a:srgbClr val="102033"/>
                </a:solidFill>
                <a:latin typeface="Aptos"/>
                <a:ea typeface="Aptos"/>
                <a:cs typeface="Aptos"/>
              </a:defRPr>
            </a:pPr>
            <a:r>
              <a:rPr sz="1500" b="1">
                <a:solidFill>
                  <a:srgbClr val="102033"/>
                </a:solidFill>
                <a:latin typeface="Aptos"/>
                <a:ea typeface="Aptos"/>
                <a:cs typeface="Aptos"/>
              </a:rPr>
              <a:t>Too much manual effort</a:t>
            </a:r>
          </a:p>
        </p:txBody>
      </p:sp>
      <p:sp>
        <p:nvSpPr>
          <p:cNvPr id="12" name="problem-2-body">
            <a:extLst>
              <a:ext uri="{FF2B5EF4-FFF2-40B4-BE49-F238E27FC236}">
                <a16:creationId xmlns:a16="http://schemas.microsoft.com/office/drawing/2014/main" id="{4EEC166F-6C4E-4732-B19E-A9218A0D0237}"/>
              </a:ext>
            </a:extLst>
          </p:cNvPr>
          <p:cNvSpPr>
            <a:spLocks noGrp="1"/>
          </p:cNvSpPr>
          <p:nvPr/>
        </p:nvSpPr>
        <p:spPr>
          <a:xfrm>
            <a:off x="6762750" y="3143250"/>
            <a:ext cx="4000500"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0">
                <a:solidFill>
                  <a:srgbClr val="243447"/>
                </a:solidFill>
                <a:latin typeface="Aptos"/>
                <a:ea typeface="Aptos"/>
                <a:cs typeface="Aptos"/>
              </a:defRPr>
            </a:pPr>
            <a:r>
              <a:rPr sz="1350" b="0">
                <a:solidFill>
                  <a:srgbClr val="243447"/>
                </a:solidFill>
                <a:latin typeface="Aptos"/>
                <a:ea typeface="Aptos"/>
                <a:cs typeface="Aptos"/>
              </a:rPr>
              <a:t>Planning nodes, connections, and structure manually takes time and breaks the thinking flow.</a:t>
            </a:r>
          </a:p>
        </p:txBody>
      </p:sp>
      <p:sp>
        <p:nvSpPr>
          <p:cNvPr id="13" name="problem-3">
            <a:extLst>
              <a:ext uri="{FF2B5EF4-FFF2-40B4-BE49-F238E27FC236}">
                <a16:creationId xmlns:a16="http://schemas.microsoft.com/office/drawing/2014/main" id="{D1B37D07-CA7B-424E-BE24-2FE013B95DC2}"/>
              </a:ext>
            </a:extLst>
          </p:cNvPr>
          <p:cNvSpPr>
            <a:spLocks noGrp="1"/>
          </p:cNvSpPr>
          <p:nvPr/>
        </p:nvSpPr>
        <p:spPr>
          <a:xfrm>
            <a:off x="6572250" y="3943350"/>
            <a:ext cx="4381500" cy="1123950"/>
          </a:xfrm>
          <a:prstGeom prst="rect">
            <a:avLst/>
          </a:prstGeom>
          <a:solidFill>
            <a:srgbClr val="DDEEE6"/>
          </a:solidFill>
          <a:ln w="9525">
            <a:solidFill>
              <a:srgbClr val="DDEEE6"/>
            </a:solidFill>
            <a:prstDash val="solid"/>
          </a:ln>
        </p:spPr>
      </p:sp>
      <p:sp>
        <p:nvSpPr>
          <p:cNvPr id="14" name="problem-3-title">
            <a:extLst>
              <a:ext uri="{FF2B5EF4-FFF2-40B4-BE49-F238E27FC236}">
                <a16:creationId xmlns:a16="http://schemas.microsoft.com/office/drawing/2014/main" id="{8FDDF505-E3CD-41A2-B43F-D078C14CB16B}"/>
              </a:ext>
            </a:extLst>
          </p:cNvPr>
          <p:cNvSpPr>
            <a:spLocks noGrp="1"/>
          </p:cNvSpPr>
          <p:nvPr/>
        </p:nvSpPr>
        <p:spPr>
          <a:xfrm>
            <a:off x="6762750" y="4114800"/>
            <a:ext cx="40005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00" b="1">
                <a:solidFill>
                  <a:srgbClr val="102033"/>
                </a:solidFill>
                <a:latin typeface="Aptos"/>
                <a:ea typeface="Aptos"/>
                <a:cs typeface="Aptos"/>
              </a:defRPr>
            </a:pPr>
            <a:r>
              <a:rPr sz="1500" b="1">
                <a:solidFill>
                  <a:srgbClr val="102033"/>
                </a:solidFill>
                <a:latin typeface="Aptos"/>
                <a:ea typeface="Aptos"/>
                <a:cs typeface="Aptos"/>
              </a:rPr>
              <a:t>Poor clarity in communication</a:t>
            </a:r>
          </a:p>
        </p:txBody>
      </p:sp>
      <p:sp>
        <p:nvSpPr>
          <p:cNvPr id="15" name="problem-3-body">
            <a:extLst>
              <a:ext uri="{FF2B5EF4-FFF2-40B4-BE49-F238E27FC236}">
                <a16:creationId xmlns:a16="http://schemas.microsoft.com/office/drawing/2014/main" id="{AFF3C043-072D-480C-ADE7-1D3B3C46B939}"/>
              </a:ext>
            </a:extLst>
          </p:cNvPr>
          <p:cNvSpPr>
            <a:spLocks noGrp="1"/>
          </p:cNvSpPr>
          <p:nvPr/>
        </p:nvSpPr>
        <p:spPr>
          <a:xfrm>
            <a:off x="6762750" y="4495800"/>
            <a:ext cx="4000500"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0">
                <a:solidFill>
                  <a:srgbClr val="243447"/>
                </a:solidFill>
                <a:latin typeface="Aptos"/>
                <a:ea typeface="Aptos"/>
                <a:cs typeface="Aptos"/>
              </a:defRPr>
            </a:pPr>
            <a:r>
              <a:rPr sz="1350" b="0">
                <a:solidFill>
                  <a:srgbClr val="243447"/>
                </a:solidFill>
                <a:latin typeface="Aptos"/>
                <a:ea typeface="Aptos"/>
                <a:cs typeface="Aptos"/>
              </a:rPr>
              <a:t>If the design is unclear, it becomes harder to explain the project to teachers, teammates, or stakeholders.</a:t>
            </a:r>
          </a:p>
        </p:txBody>
      </p:sp>
      <p:sp>
        <p:nvSpPr>
          <p:cNvPr id="16" name="problem-summary">
            <a:extLst>
              <a:ext uri="{FF2B5EF4-FFF2-40B4-BE49-F238E27FC236}">
                <a16:creationId xmlns:a16="http://schemas.microsoft.com/office/drawing/2014/main" id="{97A9A280-6B1F-42BC-B9D0-9719A8023BB2}"/>
              </a:ext>
            </a:extLst>
          </p:cNvPr>
          <p:cNvSpPr>
            <a:spLocks noGrp="1"/>
          </p:cNvSpPr>
          <p:nvPr/>
        </p:nvSpPr>
        <p:spPr>
          <a:xfrm>
            <a:off x="609600" y="3752850"/>
            <a:ext cx="5143500" cy="11430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1">
                <a:solidFill>
                  <a:srgbClr val="17324D"/>
                </a:solidFill>
                <a:latin typeface="Aptos Display"/>
                <a:ea typeface="Aptos Display"/>
                <a:cs typeface="Aptos Display"/>
              </a:defRPr>
            </a:pPr>
            <a:r>
              <a:rPr sz="1800" b="1" dirty="0">
                <a:solidFill>
                  <a:srgbClr val="17324D"/>
                </a:solidFill>
                <a:latin typeface="Aptos Display"/>
                <a:ea typeface="Aptos Display"/>
                <a:cs typeface="Aptos Display"/>
              </a:rPr>
              <a:t>So the main problem is not only drawing a diagram. It is understanding the idea clearly, organizing it well, and presenting it in a way that others can easily follow.</a:t>
            </a:r>
          </a:p>
        </p:txBody>
      </p:sp>
      <p:sp>
        <p:nvSpPr>
          <p:cNvPr id="17" name="footer">
            <a:extLst>
              <a:ext uri="{FF2B5EF4-FFF2-40B4-BE49-F238E27FC236}">
                <a16:creationId xmlns:a16="http://schemas.microsoft.com/office/drawing/2014/main" id="{05732789-A6D6-4401-BEF5-3B12A790BA4C}"/>
              </a:ext>
            </a:extLst>
          </p:cNvPr>
          <p:cNvSpPr>
            <a:spLocks noGrp="1"/>
          </p:cNvSpPr>
          <p:nvPr/>
        </p:nvSpPr>
        <p:spPr>
          <a:xfrm>
            <a:off x="609600" y="6515100"/>
            <a:ext cx="49530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0">
                <a:solidFill>
                  <a:srgbClr val="7A8793"/>
                </a:solidFill>
                <a:latin typeface="Aptos"/>
                <a:ea typeface="Aptos"/>
                <a:cs typeface="Aptos"/>
              </a:defRPr>
            </a:pPr>
            <a:r>
              <a:rPr sz="750" b="0">
                <a:solidFill>
                  <a:srgbClr val="7A8793"/>
                </a:solidFill>
                <a:latin typeface="Aptos"/>
                <a:ea typeface="Aptos"/>
                <a:cs typeface="Aptos"/>
              </a:rPr>
              <a:t>DiagramMaker AI</a:t>
            </a:r>
          </a:p>
        </p:txBody>
      </p:sp>
    </p:spTree>
    <p:extLst>
      <p:ext uri="{BB962C8B-B14F-4D97-AF65-F5344CB8AC3E}">
        <p14:creationId xmlns:p14="http://schemas.microsoft.com/office/powerpoint/2010/main" val="1750293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background">
            <a:extLst>
              <a:ext uri="{FF2B5EF4-FFF2-40B4-BE49-F238E27FC236}">
                <a16:creationId xmlns:a16="http://schemas.microsoft.com/office/drawing/2014/main" id="{A236DA75-0769-4566-B856-D8675A9A9FFA}"/>
              </a:ext>
            </a:extLst>
          </p:cNvPr>
          <p:cNvSpPr>
            <a:spLocks noGrp="1"/>
          </p:cNvSpPr>
          <p:nvPr/>
        </p:nvSpPr>
        <p:spPr>
          <a:xfrm>
            <a:off x="0" y="0"/>
            <a:ext cx="12192000" cy="6858000"/>
          </a:xfrm>
          <a:prstGeom prst="rect">
            <a:avLst/>
          </a:prstGeom>
          <a:solidFill>
            <a:srgbClr val="FFFFFF"/>
          </a:solidFill>
          <a:ln w="0">
            <a:solidFill>
              <a:srgbClr val="FFFFFF"/>
            </a:solidFill>
            <a:prstDash val="solid"/>
          </a:ln>
        </p:spPr>
      </p:sp>
      <p:sp>
        <p:nvSpPr>
          <p:cNvPr id="2" name="top-band">
            <a:extLst>
              <a:ext uri="{FF2B5EF4-FFF2-40B4-BE49-F238E27FC236}">
                <a16:creationId xmlns:a16="http://schemas.microsoft.com/office/drawing/2014/main" id="{26FF723E-9CE6-439F-A836-7AA74729D8D8}"/>
              </a:ext>
            </a:extLst>
          </p:cNvPr>
          <p:cNvSpPr>
            <a:spLocks noGrp="1"/>
          </p:cNvSpPr>
          <p:nvPr/>
        </p:nvSpPr>
        <p:spPr>
          <a:xfrm>
            <a:off x="0" y="0"/>
            <a:ext cx="12192000" cy="171450"/>
          </a:xfrm>
          <a:prstGeom prst="rect">
            <a:avLst/>
          </a:prstGeom>
          <a:solidFill>
            <a:srgbClr val="17324D"/>
          </a:solidFill>
          <a:ln w="0">
            <a:solidFill>
              <a:srgbClr val="17324D"/>
            </a:solidFill>
            <a:prstDash val="solid"/>
          </a:ln>
        </p:spPr>
      </p:sp>
      <p:sp>
        <p:nvSpPr>
          <p:cNvPr id="3" name="kicker-marker">
            <a:extLst>
              <a:ext uri="{FF2B5EF4-FFF2-40B4-BE49-F238E27FC236}">
                <a16:creationId xmlns:a16="http://schemas.microsoft.com/office/drawing/2014/main" id="{F005DB10-2BED-48A4-BFEA-A1596F31E55E}"/>
              </a:ext>
            </a:extLst>
          </p:cNvPr>
          <p:cNvSpPr>
            <a:spLocks noGrp="1"/>
          </p:cNvSpPr>
          <p:nvPr/>
        </p:nvSpPr>
        <p:spPr>
          <a:xfrm>
            <a:off x="609600" y="533400"/>
            <a:ext cx="571500" cy="114300"/>
          </a:xfrm>
          <a:prstGeom prst="rect">
            <a:avLst/>
          </a:prstGeom>
          <a:solidFill>
            <a:srgbClr val="C88A2D"/>
          </a:solidFill>
          <a:ln w="0">
            <a:solidFill>
              <a:srgbClr val="C88A2D"/>
            </a:solidFill>
            <a:prstDash val="solid"/>
          </a:ln>
        </p:spPr>
      </p:sp>
      <p:sp>
        <p:nvSpPr>
          <p:cNvPr id="4" name="kicker-label">
            <a:extLst>
              <a:ext uri="{FF2B5EF4-FFF2-40B4-BE49-F238E27FC236}">
                <a16:creationId xmlns:a16="http://schemas.microsoft.com/office/drawing/2014/main" id="{6D74C068-FBFB-442C-800C-0BA68046A84A}"/>
              </a:ext>
            </a:extLst>
          </p:cNvPr>
          <p:cNvSpPr>
            <a:spLocks noGrp="1"/>
          </p:cNvSpPr>
          <p:nvPr/>
        </p:nvSpPr>
        <p:spPr>
          <a:xfrm>
            <a:off x="1295400" y="381000"/>
            <a:ext cx="2476500" cy="4191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1">
                <a:solidFill>
                  <a:srgbClr val="2E5B88"/>
                </a:solidFill>
                <a:latin typeface="Aptos"/>
                <a:ea typeface="Aptos"/>
                <a:cs typeface="Aptos"/>
              </a:defRPr>
            </a:pPr>
            <a:r>
              <a:rPr sz="1275" b="1">
                <a:solidFill>
                  <a:srgbClr val="2E5B88"/>
                </a:solidFill>
                <a:latin typeface="Aptos"/>
                <a:ea typeface="Aptos"/>
                <a:cs typeface="Aptos"/>
              </a:rPr>
              <a:t>PROPOSED SOLUTION</a:t>
            </a:r>
          </a:p>
        </p:txBody>
      </p:sp>
      <p:sp>
        <p:nvSpPr>
          <p:cNvPr id="5" name="title">
            <a:extLst>
              <a:ext uri="{FF2B5EF4-FFF2-40B4-BE49-F238E27FC236}">
                <a16:creationId xmlns:a16="http://schemas.microsoft.com/office/drawing/2014/main" id="{A4468C9E-2E38-44F2-BA11-516673B4696A}"/>
              </a:ext>
            </a:extLst>
          </p:cNvPr>
          <p:cNvSpPr>
            <a:spLocks noGrp="1"/>
          </p:cNvSpPr>
          <p:nvPr/>
        </p:nvSpPr>
        <p:spPr>
          <a:xfrm>
            <a:off x="609600" y="933450"/>
            <a:ext cx="6096000" cy="11430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250" b="1">
                <a:solidFill>
                  <a:srgbClr val="102033"/>
                </a:solidFill>
                <a:latin typeface="Aptos Display"/>
                <a:ea typeface="Aptos Display"/>
                <a:cs typeface="Aptos Display"/>
              </a:defRPr>
            </a:pPr>
            <a:r>
              <a:rPr sz="2250" b="1" dirty="0" err="1">
                <a:solidFill>
                  <a:srgbClr val="102033"/>
                </a:solidFill>
                <a:latin typeface="Aptos Display"/>
                <a:ea typeface="Aptos Display"/>
                <a:cs typeface="Aptos Display"/>
              </a:rPr>
              <a:t>DiagramMaker</a:t>
            </a:r>
            <a:r>
              <a:rPr sz="2250" b="1" dirty="0">
                <a:solidFill>
                  <a:srgbClr val="102033"/>
                </a:solidFill>
                <a:latin typeface="Aptos Display"/>
                <a:ea typeface="Aptos Display"/>
                <a:cs typeface="Aptos Display"/>
              </a:rPr>
              <a:t> AI gives users a guided way to discuss, build, and refine diagrams.</a:t>
            </a:r>
          </a:p>
        </p:txBody>
      </p:sp>
      <p:sp>
        <p:nvSpPr>
          <p:cNvPr id="6" name="solution-ask">
            <a:extLst>
              <a:ext uri="{FF2B5EF4-FFF2-40B4-BE49-F238E27FC236}">
                <a16:creationId xmlns:a16="http://schemas.microsoft.com/office/drawing/2014/main" id="{2A7074A2-AAB0-4F1A-A634-7ADC3AFF8CD2}"/>
              </a:ext>
            </a:extLst>
          </p:cNvPr>
          <p:cNvSpPr>
            <a:spLocks noGrp="1"/>
          </p:cNvSpPr>
          <p:nvPr/>
        </p:nvSpPr>
        <p:spPr>
          <a:xfrm>
            <a:off x="704850" y="2381250"/>
            <a:ext cx="3048000" cy="2343150"/>
          </a:xfrm>
          <a:prstGeom prst="rect">
            <a:avLst/>
          </a:prstGeom>
          <a:solidFill>
            <a:srgbClr val="F7F3EC"/>
          </a:solidFill>
          <a:ln w="9525">
            <a:solidFill>
              <a:srgbClr val="DCEAF7"/>
            </a:solidFill>
            <a:prstDash val="solid"/>
          </a:ln>
        </p:spPr>
      </p:sp>
      <p:sp>
        <p:nvSpPr>
          <p:cNvPr id="7" name="solution-ask-title">
            <a:extLst>
              <a:ext uri="{FF2B5EF4-FFF2-40B4-BE49-F238E27FC236}">
                <a16:creationId xmlns:a16="http://schemas.microsoft.com/office/drawing/2014/main" id="{35478824-FDEE-451B-93AB-E6E39909D08A}"/>
              </a:ext>
            </a:extLst>
          </p:cNvPr>
          <p:cNvSpPr>
            <a:spLocks noGrp="1"/>
          </p:cNvSpPr>
          <p:nvPr/>
        </p:nvSpPr>
        <p:spPr>
          <a:xfrm>
            <a:off x="895350" y="2552700"/>
            <a:ext cx="26670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00" b="1">
                <a:solidFill>
                  <a:srgbClr val="102033"/>
                </a:solidFill>
                <a:latin typeface="Aptos"/>
                <a:ea typeface="Aptos"/>
                <a:cs typeface="Aptos"/>
              </a:defRPr>
            </a:pPr>
            <a:r>
              <a:rPr sz="1500" b="1" dirty="0">
                <a:solidFill>
                  <a:srgbClr val="102033"/>
                </a:solidFill>
                <a:latin typeface="Aptos"/>
                <a:ea typeface="Aptos"/>
                <a:cs typeface="Aptos"/>
              </a:rPr>
              <a:t>1. Ask</a:t>
            </a:r>
          </a:p>
        </p:txBody>
      </p:sp>
      <p:sp>
        <p:nvSpPr>
          <p:cNvPr id="8" name="solution-ask-body">
            <a:extLst>
              <a:ext uri="{FF2B5EF4-FFF2-40B4-BE49-F238E27FC236}">
                <a16:creationId xmlns:a16="http://schemas.microsoft.com/office/drawing/2014/main" id="{4A93859A-A64B-484D-BF24-F4CAED064D1D}"/>
              </a:ext>
            </a:extLst>
          </p:cNvPr>
          <p:cNvSpPr>
            <a:spLocks noGrp="1"/>
          </p:cNvSpPr>
          <p:nvPr/>
        </p:nvSpPr>
        <p:spPr>
          <a:xfrm>
            <a:off x="895350" y="2933700"/>
            <a:ext cx="2667000" cy="16192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0">
                <a:solidFill>
                  <a:srgbClr val="243447"/>
                </a:solidFill>
                <a:latin typeface="Aptos"/>
                <a:ea typeface="Aptos"/>
                <a:cs typeface="Aptos"/>
              </a:defRPr>
            </a:pPr>
            <a:r>
              <a:rPr sz="1350" b="0" dirty="0">
                <a:solidFill>
                  <a:srgbClr val="243447"/>
                </a:solidFill>
                <a:latin typeface="Aptos"/>
                <a:ea typeface="Aptos"/>
                <a:cs typeface="Aptos"/>
              </a:rPr>
              <a:t>The user explains the project idea or asks design-related questions through a simple chat interface.</a:t>
            </a:r>
          </a:p>
        </p:txBody>
      </p:sp>
      <p:sp>
        <p:nvSpPr>
          <p:cNvPr id="9" name="solution-visualize">
            <a:extLst>
              <a:ext uri="{FF2B5EF4-FFF2-40B4-BE49-F238E27FC236}">
                <a16:creationId xmlns:a16="http://schemas.microsoft.com/office/drawing/2014/main" id="{3E75CC37-EAAF-4445-9346-9F91C74EB4C0}"/>
              </a:ext>
            </a:extLst>
          </p:cNvPr>
          <p:cNvSpPr>
            <a:spLocks noGrp="1"/>
          </p:cNvSpPr>
          <p:nvPr/>
        </p:nvSpPr>
        <p:spPr>
          <a:xfrm>
            <a:off x="4572000" y="2381250"/>
            <a:ext cx="3048000" cy="2343150"/>
          </a:xfrm>
          <a:prstGeom prst="rect">
            <a:avLst/>
          </a:prstGeom>
          <a:solidFill>
            <a:srgbClr val="DCEAF7"/>
          </a:solidFill>
          <a:ln w="9525">
            <a:solidFill>
              <a:srgbClr val="DCEAF7"/>
            </a:solidFill>
            <a:prstDash val="solid"/>
          </a:ln>
        </p:spPr>
      </p:sp>
      <p:sp>
        <p:nvSpPr>
          <p:cNvPr id="10" name="solution-visualize-title">
            <a:extLst>
              <a:ext uri="{FF2B5EF4-FFF2-40B4-BE49-F238E27FC236}">
                <a16:creationId xmlns:a16="http://schemas.microsoft.com/office/drawing/2014/main" id="{825AB4E0-9605-4431-B933-A3F6251A524E}"/>
              </a:ext>
            </a:extLst>
          </p:cNvPr>
          <p:cNvSpPr>
            <a:spLocks noGrp="1"/>
          </p:cNvSpPr>
          <p:nvPr/>
        </p:nvSpPr>
        <p:spPr>
          <a:xfrm>
            <a:off x="4762500" y="2552700"/>
            <a:ext cx="26670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00" b="1">
                <a:solidFill>
                  <a:srgbClr val="102033"/>
                </a:solidFill>
                <a:latin typeface="Aptos"/>
                <a:ea typeface="Aptos"/>
                <a:cs typeface="Aptos"/>
              </a:defRPr>
            </a:pPr>
            <a:r>
              <a:rPr sz="1500" b="1">
                <a:solidFill>
                  <a:srgbClr val="102033"/>
                </a:solidFill>
                <a:latin typeface="Aptos"/>
                <a:ea typeface="Aptos"/>
                <a:cs typeface="Aptos"/>
              </a:rPr>
              <a:t>2. Visualize</a:t>
            </a:r>
          </a:p>
        </p:txBody>
      </p:sp>
      <p:sp>
        <p:nvSpPr>
          <p:cNvPr id="11" name="solution-visualize-body">
            <a:extLst>
              <a:ext uri="{FF2B5EF4-FFF2-40B4-BE49-F238E27FC236}">
                <a16:creationId xmlns:a16="http://schemas.microsoft.com/office/drawing/2014/main" id="{1AE43121-D7F0-4BD5-A1CF-85045753F200}"/>
              </a:ext>
            </a:extLst>
          </p:cNvPr>
          <p:cNvSpPr>
            <a:spLocks noGrp="1"/>
          </p:cNvSpPr>
          <p:nvPr/>
        </p:nvSpPr>
        <p:spPr>
          <a:xfrm>
            <a:off x="4762500" y="2933700"/>
            <a:ext cx="2667000" cy="16192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0">
                <a:solidFill>
                  <a:srgbClr val="243447"/>
                </a:solidFill>
                <a:latin typeface="Aptos"/>
                <a:ea typeface="Aptos"/>
                <a:cs typeface="Aptos"/>
              </a:defRPr>
            </a:pPr>
            <a:r>
              <a:rPr sz="1350" b="0" dirty="0">
                <a:solidFill>
                  <a:srgbClr val="243447"/>
                </a:solidFill>
                <a:latin typeface="Aptos"/>
                <a:ea typeface="Aptos"/>
                <a:cs typeface="Aptos"/>
              </a:rPr>
              <a:t>The platform provides a diagram workspace where users can add, connect, edit, and arrange components.</a:t>
            </a:r>
          </a:p>
        </p:txBody>
      </p:sp>
      <p:sp>
        <p:nvSpPr>
          <p:cNvPr id="12" name="solution-improve">
            <a:extLst>
              <a:ext uri="{FF2B5EF4-FFF2-40B4-BE49-F238E27FC236}">
                <a16:creationId xmlns:a16="http://schemas.microsoft.com/office/drawing/2014/main" id="{2B0EF551-CA1C-4552-92DD-FE11FC459176}"/>
              </a:ext>
            </a:extLst>
          </p:cNvPr>
          <p:cNvSpPr>
            <a:spLocks noGrp="1"/>
          </p:cNvSpPr>
          <p:nvPr/>
        </p:nvSpPr>
        <p:spPr>
          <a:xfrm>
            <a:off x="8439150" y="2381250"/>
            <a:ext cx="3048000" cy="2343150"/>
          </a:xfrm>
          <a:prstGeom prst="rect">
            <a:avLst/>
          </a:prstGeom>
          <a:solidFill>
            <a:srgbClr val="DDEEE6"/>
          </a:solidFill>
          <a:ln w="9525">
            <a:solidFill>
              <a:srgbClr val="DDEEE6"/>
            </a:solidFill>
            <a:prstDash val="solid"/>
          </a:ln>
        </p:spPr>
      </p:sp>
      <p:sp>
        <p:nvSpPr>
          <p:cNvPr id="13" name="solution-improve-title">
            <a:extLst>
              <a:ext uri="{FF2B5EF4-FFF2-40B4-BE49-F238E27FC236}">
                <a16:creationId xmlns:a16="http://schemas.microsoft.com/office/drawing/2014/main" id="{CB016740-1B34-45E4-9D35-15D3B6931005}"/>
              </a:ext>
            </a:extLst>
          </p:cNvPr>
          <p:cNvSpPr>
            <a:spLocks noGrp="1"/>
          </p:cNvSpPr>
          <p:nvPr/>
        </p:nvSpPr>
        <p:spPr>
          <a:xfrm>
            <a:off x="8629650" y="2552700"/>
            <a:ext cx="26670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00" b="1">
                <a:solidFill>
                  <a:srgbClr val="102033"/>
                </a:solidFill>
                <a:latin typeface="Aptos"/>
                <a:ea typeface="Aptos"/>
                <a:cs typeface="Aptos"/>
              </a:defRPr>
            </a:pPr>
            <a:r>
              <a:rPr sz="1500" b="1">
                <a:solidFill>
                  <a:srgbClr val="102033"/>
                </a:solidFill>
                <a:latin typeface="Aptos"/>
                <a:ea typeface="Aptos"/>
                <a:cs typeface="Aptos"/>
              </a:rPr>
              <a:t>3. Improve</a:t>
            </a:r>
          </a:p>
        </p:txBody>
      </p:sp>
      <p:sp>
        <p:nvSpPr>
          <p:cNvPr id="14" name="solution-improve-body">
            <a:extLst>
              <a:ext uri="{FF2B5EF4-FFF2-40B4-BE49-F238E27FC236}">
                <a16:creationId xmlns:a16="http://schemas.microsoft.com/office/drawing/2014/main" id="{D9F6826D-2831-47B1-964C-5318810838C5}"/>
              </a:ext>
            </a:extLst>
          </p:cNvPr>
          <p:cNvSpPr>
            <a:spLocks noGrp="1"/>
          </p:cNvSpPr>
          <p:nvPr/>
        </p:nvSpPr>
        <p:spPr>
          <a:xfrm>
            <a:off x="8629650" y="2933700"/>
            <a:ext cx="2667000" cy="16192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0">
                <a:solidFill>
                  <a:srgbClr val="243447"/>
                </a:solidFill>
                <a:latin typeface="Aptos"/>
                <a:ea typeface="Aptos"/>
                <a:cs typeface="Aptos"/>
              </a:defRPr>
            </a:pPr>
            <a:r>
              <a:rPr sz="1350" b="0">
                <a:solidFill>
                  <a:srgbClr val="243447"/>
                </a:solidFill>
                <a:latin typeface="Aptos"/>
                <a:ea typeface="Aptos"/>
                <a:cs typeface="Aptos"/>
              </a:rPr>
              <a:t>Changes are saved in a structured way, so the design can keep improving instead of getting lost.</a:t>
            </a:r>
          </a:p>
        </p:txBody>
      </p:sp>
      <p:sp>
        <p:nvSpPr>
          <p:cNvPr id="15" name="solution-summary">
            <a:extLst>
              <a:ext uri="{FF2B5EF4-FFF2-40B4-BE49-F238E27FC236}">
                <a16:creationId xmlns:a16="http://schemas.microsoft.com/office/drawing/2014/main" id="{1FB7ED00-4B05-4A34-9CBA-535FB588E097}"/>
              </a:ext>
            </a:extLst>
          </p:cNvPr>
          <p:cNvSpPr>
            <a:spLocks noGrp="1"/>
          </p:cNvSpPr>
          <p:nvPr/>
        </p:nvSpPr>
        <p:spPr>
          <a:xfrm>
            <a:off x="857250" y="5143500"/>
            <a:ext cx="10382250" cy="7239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800" b="1">
                <a:solidFill>
                  <a:srgbClr val="102033"/>
                </a:solidFill>
                <a:latin typeface="Aptos Display"/>
                <a:ea typeface="Aptos Display"/>
                <a:cs typeface="Aptos Display"/>
              </a:defRPr>
            </a:pPr>
            <a:r>
              <a:rPr sz="1800" b="1">
                <a:solidFill>
                  <a:srgbClr val="102033"/>
                </a:solidFill>
                <a:latin typeface="Aptos Display"/>
                <a:ea typeface="Aptos Display"/>
                <a:cs typeface="Aptos Display"/>
              </a:rPr>
              <a:t>In short, the project combines guidance plus editing plus saved structure. This helps users move from idea to understandable architecture in one place.</a:t>
            </a:r>
          </a:p>
        </p:txBody>
      </p:sp>
      <p:sp>
        <p:nvSpPr>
          <p:cNvPr id="16" name="footer">
            <a:extLst>
              <a:ext uri="{FF2B5EF4-FFF2-40B4-BE49-F238E27FC236}">
                <a16:creationId xmlns:a16="http://schemas.microsoft.com/office/drawing/2014/main" id="{DE151B77-FC53-4A44-A552-33B9A0A769E4}"/>
              </a:ext>
            </a:extLst>
          </p:cNvPr>
          <p:cNvSpPr>
            <a:spLocks noGrp="1"/>
          </p:cNvSpPr>
          <p:nvPr/>
        </p:nvSpPr>
        <p:spPr>
          <a:xfrm>
            <a:off x="609600" y="6515100"/>
            <a:ext cx="49530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0">
                <a:solidFill>
                  <a:srgbClr val="7A8793"/>
                </a:solidFill>
                <a:latin typeface="Aptos"/>
                <a:ea typeface="Aptos"/>
                <a:cs typeface="Aptos"/>
              </a:defRPr>
            </a:pPr>
            <a:r>
              <a:rPr sz="750" b="0">
                <a:solidFill>
                  <a:srgbClr val="7A8793"/>
                </a:solidFill>
                <a:latin typeface="Aptos"/>
                <a:ea typeface="Aptos"/>
                <a:cs typeface="Aptos"/>
              </a:rPr>
              <a:t>DiagramMaker AI</a:t>
            </a:r>
          </a:p>
        </p:txBody>
      </p:sp>
    </p:spTree>
    <p:extLst>
      <p:ext uri="{BB962C8B-B14F-4D97-AF65-F5344CB8AC3E}">
        <p14:creationId xmlns:p14="http://schemas.microsoft.com/office/powerpoint/2010/main" val="12899695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background">
            <a:extLst>
              <a:ext uri="{FF2B5EF4-FFF2-40B4-BE49-F238E27FC236}">
                <a16:creationId xmlns:a16="http://schemas.microsoft.com/office/drawing/2014/main" id="{FC3DB61C-54A9-46BD-9FA2-21C544CEC0AA}"/>
              </a:ext>
            </a:extLst>
          </p:cNvPr>
          <p:cNvSpPr>
            <a:spLocks noGrp="1"/>
          </p:cNvSpPr>
          <p:nvPr/>
        </p:nvSpPr>
        <p:spPr>
          <a:xfrm>
            <a:off x="0" y="0"/>
            <a:ext cx="12192000" cy="6858000"/>
          </a:xfrm>
          <a:prstGeom prst="rect">
            <a:avLst/>
          </a:prstGeom>
          <a:solidFill>
            <a:srgbClr val="F7F3EC"/>
          </a:solidFill>
          <a:ln w="0">
            <a:solidFill>
              <a:srgbClr val="F7F3EC"/>
            </a:solidFill>
            <a:prstDash val="solid"/>
          </a:ln>
        </p:spPr>
      </p:sp>
      <p:sp>
        <p:nvSpPr>
          <p:cNvPr id="2" name="top-band">
            <a:extLst>
              <a:ext uri="{FF2B5EF4-FFF2-40B4-BE49-F238E27FC236}">
                <a16:creationId xmlns:a16="http://schemas.microsoft.com/office/drawing/2014/main" id="{A4918B9D-B4EB-489F-9FA9-BF881F5CFD6C}"/>
              </a:ext>
            </a:extLst>
          </p:cNvPr>
          <p:cNvSpPr>
            <a:spLocks noGrp="1"/>
          </p:cNvSpPr>
          <p:nvPr/>
        </p:nvSpPr>
        <p:spPr>
          <a:xfrm>
            <a:off x="0" y="0"/>
            <a:ext cx="12192000" cy="171450"/>
          </a:xfrm>
          <a:prstGeom prst="rect">
            <a:avLst/>
          </a:prstGeom>
          <a:solidFill>
            <a:srgbClr val="17324D"/>
          </a:solidFill>
          <a:ln w="0">
            <a:solidFill>
              <a:srgbClr val="17324D"/>
            </a:solidFill>
            <a:prstDash val="solid"/>
          </a:ln>
        </p:spPr>
      </p:sp>
      <p:sp>
        <p:nvSpPr>
          <p:cNvPr id="3" name="kicker-marker">
            <a:extLst>
              <a:ext uri="{FF2B5EF4-FFF2-40B4-BE49-F238E27FC236}">
                <a16:creationId xmlns:a16="http://schemas.microsoft.com/office/drawing/2014/main" id="{45EDA4BA-1CC2-4313-9953-9C73BDF57C8D}"/>
              </a:ext>
            </a:extLst>
          </p:cNvPr>
          <p:cNvSpPr>
            <a:spLocks noGrp="1"/>
          </p:cNvSpPr>
          <p:nvPr/>
        </p:nvSpPr>
        <p:spPr>
          <a:xfrm>
            <a:off x="609600" y="533400"/>
            <a:ext cx="571500" cy="114300"/>
          </a:xfrm>
          <a:prstGeom prst="rect">
            <a:avLst/>
          </a:prstGeom>
          <a:solidFill>
            <a:srgbClr val="C88A2D"/>
          </a:solidFill>
          <a:ln w="0">
            <a:solidFill>
              <a:srgbClr val="C88A2D"/>
            </a:solidFill>
            <a:prstDash val="solid"/>
          </a:ln>
        </p:spPr>
      </p:sp>
      <p:sp>
        <p:nvSpPr>
          <p:cNvPr id="4" name="kicker-label">
            <a:extLst>
              <a:ext uri="{FF2B5EF4-FFF2-40B4-BE49-F238E27FC236}">
                <a16:creationId xmlns:a16="http://schemas.microsoft.com/office/drawing/2014/main" id="{BBAAD9BB-6E8F-46B5-9425-3B455CDF154C}"/>
              </a:ext>
            </a:extLst>
          </p:cNvPr>
          <p:cNvSpPr>
            <a:spLocks noGrp="1"/>
          </p:cNvSpPr>
          <p:nvPr/>
        </p:nvSpPr>
        <p:spPr>
          <a:xfrm>
            <a:off x="1295400" y="381000"/>
            <a:ext cx="2476500" cy="4191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1">
                <a:solidFill>
                  <a:srgbClr val="2E5B88"/>
                </a:solidFill>
                <a:latin typeface="Aptos"/>
                <a:ea typeface="Aptos"/>
                <a:cs typeface="Aptos"/>
              </a:defRPr>
            </a:pPr>
            <a:r>
              <a:rPr sz="1275" b="1">
                <a:solidFill>
                  <a:srgbClr val="2E5B88"/>
                </a:solidFill>
                <a:latin typeface="Aptos"/>
                <a:ea typeface="Aptos"/>
                <a:cs typeface="Aptos"/>
              </a:rPr>
              <a:t>KEY FEATURES</a:t>
            </a:r>
          </a:p>
        </p:txBody>
      </p:sp>
      <p:sp>
        <p:nvSpPr>
          <p:cNvPr id="5" name="title">
            <a:extLst>
              <a:ext uri="{FF2B5EF4-FFF2-40B4-BE49-F238E27FC236}">
                <a16:creationId xmlns:a16="http://schemas.microsoft.com/office/drawing/2014/main" id="{A318930C-D68D-4A71-AF18-FD1AF299E002}"/>
              </a:ext>
            </a:extLst>
          </p:cNvPr>
          <p:cNvSpPr>
            <a:spLocks noGrp="1"/>
          </p:cNvSpPr>
          <p:nvPr/>
        </p:nvSpPr>
        <p:spPr>
          <a:xfrm>
            <a:off x="609600" y="933450"/>
            <a:ext cx="6096000" cy="11430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250" b="1">
                <a:solidFill>
                  <a:srgbClr val="102033"/>
                </a:solidFill>
                <a:latin typeface="Aptos Display"/>
                <a:ea typeface="Aptos Display"/>
                <a:cs typeface="Aptos Display"/>
              </a:defRPr>
            </a:pPr>
            <a:r>
              <a:rPr sz="2250" b="1">
                <a:solidFill>
                  <a:srgbClr val="102033"/>
                </a:solidFill>
                <a:latin typeface="Aptos Display"/>
                <a:ea typeface="Aptos Display"/>
                <a:cs typeface="Aptos Display"/>
              </a:rPr>
              <a:t>The project focuses on useful features instead of technical complexity.</a:t>
            </a:r>
          </a:p>
        </p:txBody>
      </p:sp>
      <p:sp>
        <p:nvSpPr>
          <p:cNvPr id="6" name="feature-1">
            <a:extLst>
              <a:ext uri="{FF2B5EF4-FFF2-40B4-BE49-F238E27FC236}">
                <a16:creationId xmlns:a16="http://schemas.microsoft.com/office/drawing/2014/main" id="{A6F0805A-D3B5-4E8B-A31A-6C46235944B4}"/>
              </a:ext>
            </a:extLst>
          </p:cNvPr>
          <p:cNvSpPr>
            <a:spLocks noGrp="1"/>
          </p:cNvSpPr>
          <p:nvPr/>
        </p:nvSpPr>
        <p:spPr>
          <a:xfrm>
            <a:off x="742950" y="2152650"/>
            <a:ext cx="2381250" cy="1733550"/>
          </a:xfrm>
          <a:prstGeom prst="rect">
            <a:avLst/>
          </a:prstGeom>
          <a:solidFill>
            <a:srgbClr val="FFFFFF"/>
          </a:solidFill>
          <a:ln w="9525">
            <a:solidFill>
              <a:srgbClr val="DCEAF7"/>
            </a:solidFill>
            <a:prstDash val="solid"/>
          </a:ln>
        </p:spPr>
      </p:sp>
      <p:sp>
        <p:nvSpPr>
          <p:cNvPr id="7" name="feature-1-title">
            <a:extLst>
              <a:ext uri="{FF2B5EF4-FFF2-40B4-BE49-F238E27FC236}">
                <a16:creationId xmlns:a16="http://schemas.microsoft.com/office/drawing/2014/main" id="{61C1989B-AD45-4147-93BE-A2165B584A5B}"/>
              </a:ext>
            </a:extLst>
          </p:cNvPr>
          <p:cNvSpPr>
            <a:spLocks noGrp="1"/>
          </p:cNvSpPr>
          <p:nvPr/>
        </p:nvSpPr>
        <p:spPr>
          <a:xfrm>
            <a:off x="933450" y="2324100"/>
            <a:ext cx="200025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00" b="1">
                <a:solidFill>
                  <a:srgbClr val="102033"/>
                </a:solidFill>
                <a:latin typeface="Aptos"/>
                <a:ea typeface="Aptos"/>
                <a:cs typeface="Aptos"/>
              </a:defRPr>
            </a:pPr>
            <a:r>
              <a:rPr sz="1500" b="1">
                <a:solidFill>
                  <a:srgbClr val="102033"/>
                </a:solidFill>
                <a:latin typeface="Aptos"/>
                <a:ea typeface="Aptos"/>
                <a:cs typeface="Aptos"/>
              </a:rPr>
              <a:t>AI chat guidance</a:t>
            </a:r>
          </a:p>
        </p:txBody>
      </p:sp>
      <p:sp>
        <p:nvSpPr>
          <p:cNvPr id="8" name="feature-1-body">
            <a:extLst>
              <a:ext uri="{FF2B5EF4-FFF2-40B4-BE49-F238E27FC236}">
                <a16:creationId xmlns:a16="http://schemas.microsoft.com/office/drawing/2014/main" id="{01014589-E8D8-4269-8406-3433C2D9806D}"/>
              </a:ext>
            </a:extLst>
          </p:cNvPr>
          <p:cNvSpPr>
            <a:spLocks noGrp="1"/>
          </p:cNvSpPr>
          <p:nvPr/>
        </p:nvSpPr>
        <p:spPr>
          <a:xfrm>
            <a:off x="933450" y="2705100"/>
            <a:ext cx="2000250" cy="1009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0">
                <a:solidFill>
                  <a:srgbClr val="243447"/>
                </a:solidFill>
                <a:latin typeface="Aptos"/>
                <a:ea typeface="Aptos"/>
                <a:cs typeface="Aptos"/>
              </a:defRPr>
            </a:pPr>
            <a:r>
              <a:rPr sz="1350" b="0" dirty="0">
                <a:solidFill>
                  <a:srgbClr val="243447"/>
                </a:solidFill>
                <a:latin typeface="Aptos"/>
                <a:ea typeface="Aptos"/>
                <a:cs typeface="Aptos"/>
              </a:rPr>
              <a:t>Users can ask questions about architecture and get help while planning the diagram.</a:t>
            </a:r>
          </a:p>
        </p:txBody>
      </p:sp>
      <p:sp>
        <p:nvSpPr>
          <p:cNvPr id="9" name="feature-2">
            <a:extLst>
              <a:ext uri="{FF2B5EF4-FFF2-40B4-BE49-F238E27FC236}">
                <a16:creationId xmlns:a16="http://schemas.microsoft.com/office/drawing/2014/main" id="{3B7D0DAB-2A2D-41B5-98D2-48108C86206C}"/>
              </a:ext>
            </a:extLst>
          </p:cNvPr>
          <p:cNvSpPr>
            <a:spLocks noGrp="1"/>
          </p:cNvSpPr>
          <p:nvPr/>
        </p:nvSpPr>
        <p:spPr>
          <a:xfrm>
            <a:off x="3352800" y="2152650"/>
            <a:ext cx="2381250" cy="1733550"/>
          </a:xfrm>
          <a:prstGeom prst="rect">
            <a:avLst/>
          </a:prstGeom>
          <a:solidFill>
            <a:srgbClr val="FFFFFF"/>
          </a:solidFill>
          <a:ln w="9525">
            <a:solidFill>
              <a:srgbClr val="DCEAF7"/>
            </a:solidFill>
            <a:prstDash val="solid"/>
          </a:ln>
        </p:spPr>
      </p:sp>
      <p:sp>
        <p:nvSpPr>
          <p:cNvPr id="10" name="feature-2-title">
            <a:extLst>
              <a:ext uri="{FF2B5EF4-FFF2-40B4-BE49-F238E27FC236}">
                <a16:creationId xmlns:a16="http://schemas.microsoft.com/office/drawing/2014/main" id="{6E6C22AC-7C9D-443A-BC49-4E774FAE0538}"/>
              </a:ext>
            </a:extLst>
          </p:cNvPr>
          <p:cNvSpPr>
            <a:spLocks noGrp="1"/>
          </p:cNvSpPr>
          <p:nvPr/>
        </p:nvSpPr>
        <p:spPr>
          <a:xfrm>
            <a:off x="3543300" y="2324100"/>
            <a:ext cx="200025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00" b="1">
                <a:solidFill>
                  <a:srgbClr val="102033"/>
                </a:solidFill>
                <a:latin typeface="Aptos"/>
                <a:ea typeface="Aptos"/>
                <a:cs typeface="Aptos"/>
              </a:defRPr>
            </a:pPr>
            <a:r>
              <a:rPr sz="1500" b="1">
                <a:solidFill>
                  <a:srgbClr val="102033"/>
                </a:solidFill>
                <a:latin typeface="Aptos"/>
                <a:ea typeface="Aptos"/>
                <a:cs typeface="Aptos"/>
              </a:rPr>
              <a:t>Editable canvas</a:t>
            </a:r>
          </a:p>
        </p:txBody>
      </p:sp>
      <p:sp>
        <p:nvSpPr>
          <p:cNvPr id="11" name="feature-2-body">
            <a:extLst>
              <a:ext uri="{FF2B5EF4-FFF2-40B4-BE49-F238E27FC236}">
                <a16:creationId xmlns:a16="http://schemas.microsoft.com/office/drawing/2014/main" id="{24900E7A-23F3-479D-A8FB-46882F97659B}"/>
              </a:ext>
            </a:extLst>
          </p:cNvPr>
          <p:cNvSpPr>
            <a:spLocks noGrp="1"/>
          </p:cNvSpPr>
          <p:nvPr/>
        </p:nvSpPr>
        <p:spPr>
          <a:xfrm>
            <a:off x="3543300" y="2705100"/>
            <a:ext cx="2000250" cy="1009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0">
                <a:solidFill>
                  <a:srgbClr val="243447"/>
                </a:solidFill>
                <a:latin typeface="Aptos"/>
                <a:ea typeface="Aptos"/>
                <a:cs typeface="Aptos"/>
              </a:defRPr>
            </a:pPr>
            <a:r>
              <a:rPr sz="1350" b="0">
                <a:solidFill>
                  <a:srgbClr val="243447"/>
                </a:solidFill>
                <a:latin typeface="Aptos"/>
                <a:ea typeface="Aptos"/>
                <a:cs typeface="Aptos"/>
              </a:rPr>
              <a:t>The user can create nodes, connect them, delete them, and update labels easily.</a:t>
            </a:r>
          </a:p>
        </p:txBody>
      </p:sp>
      <p:sp>
        <p:nvSpPr>
          <p:cNvPr id="12" name="feature-3">
            <a:extLst>
              <a:ext uri="{FF2B5EF4-FFF2-40B4-BE49-F238E27FC236}">
                <a16:creationId xmlns:a16="http://schemas.microsoft.com/office/drawing/2014/main" id="{802DC048-027F-47E6-BF1F-47DD826DDFA6}"/>
              </a:ext>
            </a:extLst>
          </p:cNvPr>
          <p:cNvSpPr>
            <a:spLocks noGrp="1"/>
          </p:cNvSpPr>
          <p:nvPr/>
        </p:nvSpPr>
        <p:spPr>
          <a:xfrm>
            <a:off x="5962650" y="2152650"/>
            <a:ext cx="2381250" cy="1733550"/>
          </a:xfrm>
          <a:prstGeom prst="rect">
            <a:avLst/>
          </a:prstGeom>
          <a:solidFill>
            <a:srgbClr val="FFFFFF"/>
          </a:solidFill>
          <a:ln w="9525">
            <a:solidFill>
              <a:srgbClr val="DCEAF7"/>
            </a:solidFill>
            <a:prstDash val="solid"/>
          </a:ln>
        </p:spPr>
      </p:sp>
      <p:sp>
        <p:nvSpPr>
          <p:cNvPr id="13" name="feature-3-title">
            <a:extLst>
              <a:ext uri="{FF2B5EF4-FFF2-40B4-BE49-F238E27FC236}">
                <a16:creationId xmlns:a16="http://schemas.microsoft.com/office/drawing/2014/main" id="{28C274C9-6386-4C1A-8E0D-9E8E0827833C}"/>
              </a:ext>
            </a:extLst>
          </p:cNvPr>
          <p:cNvSpPr>
            <a:spLocks noGrp="1"/>
          </p:cNvSpPr>
          <p:nvPr/>
        </p:nvSpPr>
        <p:spPr>
          <a:xfrm>
            <a:off x="6153150" y="2324100"/>
            <a:ext cx="200025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00" b="1">
                <a:solidFill>
                  <a:srgbClr val="102033"/>
                </a:solidFill>
                <a:latin typeface="Aptos"/>
                <a:ea typeface="Aptos"/>
                <a:cs typeface="Aptos"/>
              </a:defRPr>
            </a:pPr>
            <a:r>
              <a:rPr sz="1500" b="1">
                <a:solidFill>
                  <a:srgbClr val="102033"/>
                </a:solidFill>
                <a:latin typeface="Aptos"/>
                <a:ea typeface="Aptos"/>
                <a:cs typeface="Aptos"/>
              </a:rPr>
              <a:t>Saved design state</a:t>
            </a:r>
          </a:p>
        </p:txBody>
      </p:sp>
      <p:sp>
        <p:nvSpPr>
          <p:cNvPr id="14" name="feature-3-body">
            <a:extLst>
              <a:ext uri="{FF2B5EF4-FFF2-40B4-BE49-F238E27FC236}">
                <a16:creationId xmlns:a16="http://schemas.microsoft.com/office/drawing/2014/main" id="{A0B6AA82-129F-4D26-B4D5-F5F93FE8C932}"/>
              </a:ext>
            </a:extLst>
          </p:cNvPr>
          <p:cNvSpPr>
            <a:spLocks noGrp="1"/>
          </p:cNvSpPr>
          <p:nvPr/>
        </p:nvSpPr>
        <p:spPr>
          <a:xfrm>
            <a:off x="6153150" y="2705100"/>
            <a:ext cx="2000250" cy="1009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0">
                <a:solidFill>
                  <a:srgbClr val="243447"/>
                </a:solidFill>
                <a:latin typeface="Aptos"/>
                <a:ea typeface="Aptos"/>
                <a:cs typeface="Aptos"/>
              </a:defRPr>
            </a:pPr>
            <a:r>
              <a:rPr sz="1350" b="0">
                <a:solidFill>
                  <a:srgbClr val="243447"/>
                </a:solidFill>
                <a:latin typeface="Aptos"/>
                <a:ea typeface="Aptos"/>
                <a:cs typeface="Aptos"/>
              </a:rPr>
              <a:t>The diagram is stored in a structured format so it remains organized and reusable.</a:t>
            </a:r>
          </a:p>
        </p:txBody>
      </p:sp>
      <p:sp>
        <p:nvSpPr>
          <p:cNvPr id="15" name="feature-4">
            <a:extLst>
              <a:ext uri="{FF2B5EF4-FFF2-40B4-BE49-F238E27FC236}">
                <a16:creationId xmlns:a16="http://schemas.microsoft.com/office/drawing/2014/main" id="{4BE3CA1F-B1A5-4BE4-864C-101199E3DE63}"/>
              </a:ext>
            </a:extLst>
          </p:cNvPr>
          <p:cNvSpPr>
            <a:spLocks noGrp="1"/>
          </p:cNvSpPr>
          <p:nvPr/>
        </p:nvSpPr>
        <p:spPr>
          <a:xfrm>
            <a:off x="8572500" y="2152650"/>
            <a:ext cx="2381250" cy="1733550"/>
          </a:xfrm>
          <a:prstGeom prst="rect">
            <a:avLst/>
          </a:prstGeom>
          <a:solidFill>
            <a:srgbClr val="FFFFFF"/>
          </a:solidFill>
          <a:ln w="9525">
            <a:solidFill>
              <a:srgbClr val="DCEAF7"/>
            </a:solidFill>
            <a:prstDash val="solid"/>
          </a:ln>
        </p:spPr>
      </p:sp>
      <p:sp>
        <p:nvSpPr>
          <p:cNvPr id="16" name="feature-4-title">
            <a:extLst>
              <a:ext uri="{FF2B5EF4-FFF2-40B4-BE49-F238E27FC236}">
                <a16:creationId xmlns:a16="http://schemas.microsoft.com/office/drawing/2014/main" id="{45705723-300F-4D7C-926A-2E17C5A579AB}"/>
              </a:ext>
            </a:extLst>
          </p:cNvPr>
          <p:cNvSpPr>
            <a:spLocks noGrp="1"/>
          </p:cNvSpPr>
          <p:nvPr/>
        </p:nvSpPr>
        <p:spPr>
          <a:xfrm>
            <a:off x="8763000" y="2324100"/>
            <a:ext cx="200025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00" b="1">
                <a:solidFill>
                  <a:srgbClr val="102033"/>
                </a:solidFill>
                <a:latin typeface="Aptos"/>
                <a:ea typeface="Aptos"/>
                <a:cs typeface="Aptos"/>
              </a:defRPr>
            </a:pPr>
            <a:r>
              <a:rPr sz="1500" b="1">
                <a:solidFill>
                  <a:srgbClr val="102033"/>
                </a:solidFill>
                <a:latin typeface="Aptos"/>
                <a:ea typeface="Aptos"/>
                <a:cs typeface="Aptos"/>
              </a:rPr>
              <a:t>Simple interaction</a:t>
            </a:r>
          </a:p>
        </p:txBody>
      </p:sp>
      <p:sp>
        <p:nvSpPr>
          <p:cNvPr id="17" name="feature-4-body">
            <a:extLst>
              <a:ext uri="{FF2B5EF4-FFF2-40B4-BE49-F238E27FC236}">
                <a16:creationId xmlns:a16="http://schemas.microsoft.com/office/drawing/2014/main" id="{F8B30944-D7DE-43CE-9316-EDA0A303A861}"/>
              </a:ext>
            </a:extLst>
          </p:cNvPr>
          <p:cNvSpPr>
            <a:spLocks noGrp="1"/>
          </p:cNvSpPr>
          <p:nvPr/>
        </p:nvSpPr>
        <p:spPr>
          <a:xfrm>
            <a:off x="8763000" y="2705100"/>
            <a:ext cx="2000250" cy="1009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0">
                <a:solidFill>
                  <a:srgbClr val="243447"/>
                </a:solidFill>
                <a:latin typeface="Aptos"/>
                <a:ea typeface="Aptos"/>
                <a:cs typeface="Aptos"/>
              </a:defRPr>
            </a:pPr>
            <a:r>
              <a:rPr sz="1350" b="0">
                <a:solidFill>
                  <a:srgbClr val="243447"/>
                </a:solidFill>
                <a:latin typeface="Aptos"/>
                <a:ea typeface="Aptos"/>
                <a:cs typeface="Aptos"/>
              </a:rPr>
              <a:t>The layout is kept easy to understand with separate sections for chat, canvas, and settings.</a:t>
            </a:r>
          </a:p>
        </p:txBody>
      </p:sp>
      <p:sp>
        <p:nvSpPr>
          <p:cNvPr id="18" name="feature-summary">
            <a:extLst>
              <a:ext uri="{FF2B5EF4-FFF2-40B4-BE49-F238E27FC236}">
                <a16:creationId xmlns:a16="http://schemas.microsoft.com/office/drawing/2014/main" id="{A43948C5-6A8B-4E35-84EC-F81E73002263}"/>
              </a:ext>
            </a:extLst>
          </p:cNvPr>
          <p:cNvSpPr>
            <a:spLocks noGrp="1"/>
          </p:cNvSpPr>
          <p:nvPr/>
        </p:nvSpPr>
        <p:spPr>
          <a:xfrm>
            <a:off x="1143000" y="4381500"/>
            <a:ext cx="9906000" cy="1123950"/>
          </a:xfrm>
          <a:prstGeom prst="rect">
            <a:avLst/>
          </a:prstGeom>
          <a:solidFill>
            <a:srgbClr val="17324D"/>
          </a:solidFill>
          <a:ln w="9525">
            <a:solidFill>
              <a:srgbClr val="17324D"/>
            </a:solidFill>
            <a:prstDash val="solid"/>
          </a:ln>
        </p:spPr>
      </p:sp>
      <p:sp>
        <p:nvSpPr>
          <p:cNvPr id="19" name="feature-summary-title">
            <a:extLst>
              <a:ext uri="{FF2B5EF4-FFF2-40B4-BE49-F238E27FC236}">
                <a16:creationId xmlns:a16="http://schemas.microsoft.com/office/drawing/2014/main" id="{248F35A7-3B46-457E-946E-A4BC9328367A}"/>
              </a:ext>
            </a:extLst>
          </p:cNvPr>
          <p:cNvSpPr>
            <a:spLocks noGrp="1"/>
          </p:cNvSpPr>
          <p:nvPr/>
        </p:nvSpPr>
        <p:spPr>
          <a:xfrm>
            <a:off x="1333500" y="4552950"/>
            <a:ext cx="95250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00" b="1">
                <a:solidFill>
                  <a:srgbClr val="FFFFFF"/>
                </a:solidFill>
                <a:latin typeface="Aptos"/>
                <a:ea typeface="Aptos"/>
                <a:cs typeface="Aptos"/>
              </a:defRPr>
            </a:pPr>
            <a:r>
              <a:rPr sz="1500" b="1">
                <a:solidFill>
                  <a:srgbClr val="FFFFFF"/>
                </a:solidFill>
                <a:latin typeface="Aptos"/>
                <a:ea typeface="Aptos"/>
                <a:cs typeface="Aptos"/>
              </a:rPr>
              <a:t>What it really uses</a:t>
            </a:r>
          </a:p>
        </p:txBody>
      </p:sp>
      <p:sp>
        <p:nvSpPr>
          <p:cNvPr id="20" name="feature-summary-body">
            <a:extLst>
              <a:ext uri="{FF2B5EF4-FFF2-40B4-BE49-F238E27FC236}">
                <a16:creationId xmlns:a16="http://schemas.microsoft.com/office/drawing/2014/main" id="{799B0B06-EBFE-4D28-88D3-7B4F3F962AE6}"/>
              </a:ext>
            </a:extLst>
          </p:cNvPr>
          <p:cNvSpPr>
            <a:spLocks noGrp="1"/>
          </p:cNvSpPr>
          <p:nvPr/>
        </p:nvSpPr>
        <p:spPr>
          <a:xfrm>
            <a:off x="1333500" y="4933950"/>
            <a:ext cx="9525000"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0">
                <a:solidFill>
                  <a:srgbClr val="FFFFFF"/>
                </a:solidFill>
                <a:latin typeface="Aptos"/>
                <a:ea typeface="Aptos"/>
                <a:cs typeface="Aptos"/>
              </a:defRPr>
            </a:pPr>
            <a:r>
              <a:rPr sz="1350" b="0">
                <a:solidFill>
                  <a:srgbClr val="FFFFFF"/>
                </a:solidFill>
                <a:latin typeface="Aptos"/>
                <a:ea typeface="Aptos"/>
                <a:cs typeface="Aptos"/>
              </a:rPr>
              <a:t>It uses guided conversation, visual editing, and a stored project model together. These three ideas are the main value of the system.</a:t>
            </a:r>
          </a:p>
        </p:txBody>
      </p:sp>
      <p:sp>
        <p:nvSpPr>
          <p:cNvPr id="21" name="footer">
            <a:extLst>
              <a:ext uri="{FF2B5EF4-FFF2-40B4-BE49-F238E27FC236}">
                <a16:creationId xmlns:a16="http://schemas.microsoft.com/office/drawing/2014/main" id="{F85EA213-C3BF-4F8E-8D5C-7828CA3BAA08}"/>
              </a:ext>
            </a:extLst>
          </p:cNvPr>
          <p:cNvSpPr>
            <a:spLocks noGrp="1"/>
          </p:cNvSpPr>
          <p:nvPr/>
        </p:nvSpPr>
        <p:spPr>
          <a:xfrm>
            <a:off x="609600" y="6515100"/>
            <a:ext cx="49530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0">
                <a:solidFill>
                  <a:srgbClr val="7A8793"/>
                </a:solidFill>
                <a:latin typeface="Aptos"/>
                <a:ea typeface="Aptos"/>
                <a:cs typeface="Aptos"/>
              </a:defRPr>
            </a:pPr>
            <a:r>
              <a:rPr sz="750" b="0">
                <a:solidFill>
                  <a:srgbClr val="7A8793"/>
                </a:solidFill>
                <a:latin typeface="Aptos"/>
                <a:ea typeface="Aptos"/>
                <a:cs typeface="Aptos"/>
              </a:rPr>
              <a:t>DiagramMaker AI</a:t>
            </a:r>
          </a:p>
        </p:txBody>
      </p:sp>
    </p:spTree>
    <p:extLst>
      <p:ext uri="{BB962C8B-B14F-4D97-AF65-F5344CB8AC3E}">
        <p14:creationId xmlns:p14="http://schemas.microsoft.com/office/powerpoint/2010/main" val="9405803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background">
            <a:extLst>
              <a:ext uri="{FF2B5EF4-FFF2-40B4-BE49-F238E27FC236}">
                <a16:creationId xmlns:a16="http://schemas.microsoft.com/office/drawing/2014/main" id="{7F524E30-C407-4817-BB75-7FF79F1D1D3F}"/>
              </a:ext>
            </a:extLst>
          </p:cNvPr>
          <p:cNvSpPr>
            <a:spLocks noGrp="1"/>
          </p:cNvSpPr>
          <p:nvPr/>
        </p:nvSpPr>
        <p:spPr>
          <a:xfrm>
            <a:off x="0" y="0"/>
            <a:ext cx="12192000" cy="6858000"/>
          </a:xfrm>
          <a:prstGeom prst="rect">
            <a:avLst/>
          </a:prstGeom>
          <a:solidFill>
            <a:srgbClr val="FFFFFF"/>
          </a:solidFill>
          <a:ln w="0">
            <a:solidFill>
              <a:srgbClr val="FFFFFF"/>
            </a:solidFill>
            <a:prstDash val="solid"/>
          </a:ln>
        </p:spPr>
      </p:sp>
      <p:sp>
        <p:nvSpPr>
          <p:cNvPr id="2" name="top-band">
            <a:extLst>
              <a:ext uri="{FF2B5EF4-FFF2-40B4-BE49-F238E27FC236}">
                <a16:creationId xmlns:a16="http://schemas.microsoft.com/office/drawing/2014/main" id="{B01F807C-DE2C-49C3-B186-6DBD3E16BE90}"/>
              </a:ext>
            </a:extLst>
          </p:cNvPr>
          <p:cNvSpPr>
            <a:spLocks noGrp="1"/>
          </p:cNvSpPr>
          <p:nvPr/>
        </p:nvSpPr>
        <p:spPr>
          <a:xfrm>
            <a:off x="0" y="0"/>
            <a:ext cx="12192000" cy="171450"/>
          </a:xfrm>
          <a:prstGeom prst="rect">
            <a:avLst/>
          </a:prstGeom>
          <a:solidFill>
            <a:srgbClr val="17324D"/>
          </a:solidFill>
          <a:ln w="0">
            <a:solidFill>
              <a:srgbClr val="17324D"/>
            </a:solidFill>
            <a:prstDash val="solid"/>
          </a:ln>
        </p:spPr>
      </p:sp>
      <p:sp>
        <p:nvSpPr>
          <p:cNvPr id="3" name="kicker-marker">
            <a:extLst>
              <a:ext uri="{FF2B5EF4-FFF2-40B4-BE49-F238E27FC236}">
                <a16:creationId xmlns:a16="http://schemas.microsoft.com/office/drawing/2014/main" id="{25F732F8-FB1B-43CC-936C-992D46231688}"/>
              </a:ext>
            </a:extLst>
          </p:cNvPr>
          <p:cNvSpPr>
            <a:spLocks noGrp="1"/>
          </p:cNvSpPr>
          <p:nvPr/>
        </p:nvSpPr>
        <p:spPr>
          <a:xfrm>
            <a:off x="609600" y="533400"/>
            <a:ext cx="571500" cy="114300"/>
          </a:xfrm>
          <a:prstGeom prst="rect">
            <a:avLst/>
          </a:prstGeom>
          <a:solidFill>
            <a:srgbClr val="C88A2D"/>
          </a:solidFill>
          <a:ln w="0">
            <a:solidFill>
              <a:srgbClr val="C88A2D"/>
            </a:solidFill>
            <a:prstDash val="solid"/>
          </a:ln>
        </p:spPr>
      </p:sp>
      <p:sp>
        <p:nvSpPr>
          <p:cNvPr id="4" name="kicker-label">
            <a:extLst>
              <a:ext uri="{FF2B5EF4-FFF2-40B4-BE49-F238E27FC236}">
                <a16:creationId xmlns:a16="http://schemas.microsoft.com/office/drawing/2014/main" id="{9526B012-90D0-4A11-9D68-827E77934B11}"/>
              </a:ext>
            </a:extLst>
          </p:cNvPr>
          <p:cNvSpPr>
            <a:spLocks noGrp="1"/>
          </p:cNvSpPr>
          <p:nvPr/>
        </p:nvSpPr>
        <p:spPr>
          <a:xfrm>
            <a:off x="1295400" y="381000"/>
            <a:ext cx="2476500" cy="4191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1">
                <a:solidFill>
                  <a:srgbClr val="2E5B88"/>
                </a:solidFill>
                <a:latin typeface="Aptos"/>
                <a:ea typeface="Aptos"/>
                <a:cs typeface="Aptos"/>
              </a:defRPr>
            </a:pPr>
            <a:r>
              <a:rPr sz="1275" b="1">
                <a:solidFill>
                  <a:srgbClr val="2E5B88"/>
                </a:solidFill>
                <a:latin typeface="Aptos"/>
                <a:ea typeface="Aptos"/>
                <a:cs typeface="Aptos"/>
              </a:rPr>
              <a:t>TECH USED</a:t>
            </a:r>
          </a:p>
        </p:txBody>
      </p:sp>
      <p:sp>
        <p:nvSpPr>
          <p:cNvPr id="5" name="title">
            <a:extLst>
              <a:ext uri="{FF2B5EF4-FFF2-40B4-BE49-F238E27FC236}">
                <a16:creationId xmlns:a16="http://schemas.microsoft.com/office/drawing/2014/main" id="{787526AF-72A9-4956-AFFF-13AA6095E980}"/>
              </a:ext>
            </a:extLst>
          </p:cNvPr>
          <p:cNvSpPr>
            <a:spLocks noGrp="1"/>
          </p:cNvSpPr>
          <p:nvPr/>
        </p:nvSpPr>
        <p:spPr>
          <a:xfrm>
            <a:off x="609600" y="933450"/>
            <a:ext cx="6096000" cy="11430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250" b="1">
                <a:solidFill>
                  <a:srgbClr val="102033"/>
                </a:solidFill>
                <a:latin typeface="Aptos Display"/>
                <a:ea typeface="Aptos Display"/>
                <a:cs typeface="Aptos Display"/>
              </a:defRPr>
            </a:pPr>
            <a:r>
              <a:rPr sz="2250" b="1">
                <a:solidFill>
                  <a:srgbClr val="102033"/>
                </a:solidFill>
                <a:latin typeface="Aptos Display"/>
                <a:ea typeface="Aptos Display"/>
                <a:cs typeface="Aptos Display"/>
              </a:rPr>
              <a:t>The technology stack is simple and practical.</a:t>
            </a:r>
          </a:p>
        </p:txBody>
      </p:sp>
      <p:sp>
        <p:nvSpPr>
          <p:cNvPr id="6" name="tech-frontend">
            <a:extLst>
              <a:ext uri="{FF2B5EF4-FFF2-40B4-BE49-F238E27FC236}">
                <a16:creationId xmlns:a16="http://schemas.microsoft.com/office/drawing/2014/main" id="{67505C75-C521-4D76-90FC-87A586D48067}"/>
              </a:ext>
            </a:extLst>
          </p:cNvPr>
          <p:cNvSpPr>
            <a:spLocks noGrp="1"/>
          </p:cNvSpPr>
          <p:nvPr/>
        </p:nvSpPr>
        <p:spPr>
          <a:xfrm>
            <a:off x="781050" y="2133600"/>
            <a:ext cx="3238500" cy="2362200"/>
          </a:xfrm>
          <a:prstGeom prst="rect">
            <a:avLst/>
          </a:prstGeom>
          <a:solidFill>
            <a:srgbClr val="DCEAF7"/>
          </a:solidFill>
          <a:ln w="9525">
            <a:solidFill>
              <a:srgbClr val="DCEAF7"/>
            </a:solidFill>
            <a:prstDash val="solid"/>
          </a:ln>
        </p:spPr>
      </p:sp>
      <p:sp>
        <p:nvSpPr>
          <p:cNvPr id="7" name="tech-frontend-title">
            <a:extLst>
              <a:ext uri="{FF2B5EF4-FFF2-40B4-BE49-F238E27FC236}">
                <a16:creationId xmlns:a16="http://schemas.microsoft.com/office/drawing/2014/main" id="{2129E271-6D31-4A92-8104-0D3E4F4D9880}"/>
              </a:ext>
            </a:extLst>
          </p:cNvPr>
          <p:cNvSpPr>
            <a:spLocks noGrp="1"/>
          </p:cNvSpPr>
          <p:nvPr/>
        </p:nvSpPr>
        <p:spPr>
          <a:xfrm>
            <a:off x="971550" y="2305050"/>
            <a:ext cx="28575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00" b="1">
                <a:solidFill>
                  <a:srgbClr val="102033"/>
                </a:solidFill>
                <a:latin typeface="Aptos"/>
                <a:ea typeface="Aptos"/>
                <a:cs typeface="Aptos"/>
              </a:defRPr>
            </a:pPr>
            <a:r>
              <a:rPr sz="1500" b="1">
                <a:solidFill>
                  <a:srgbClr val="102033"/>
                </a:solidFill>
                <a:latin typeface="Aptos"/>
                <a:ea typeface="Aptos"/>
                <a:cs typeface="Aptos"/>
              </a:rPr>
              <a:t>Frontend</a:t>
            </a:r>
          </a:p>
        </p:txBody>
      </p:sp>
      <p:sp>
        <p:nvSpPr>
          <p:cNvPr id="8" name="tech-frontend-body">
            <a:extLst>
              <a:ext uri="{FF2B5EF4-FFF2-40B4-BE49-F238E27FC236}">
                <a16:creationId xmlns:a16="http://schemas.microsoft.com/office/drawing/2014/main" id="{AADC85F2-1082-4BA9-9416-10197B07014B}"/>
              </a:ext>
            </a:extLst>
          </p:cNvPr>
          <p:cNvSpPr>
            <a:spLocks noGrp="1"/>
          </p:cNvSpPr>
          <p:nvPr/>
        </p:nvSpPr>
        <p:spPr>
          <a:xfrm>
            <a:off x="971550" y="2686050"/>
            <a:ext cx="2857500" cy="1638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0">
                <a:solidFill>
                  <a:srgbClr val="243447"/>
                </a:solidFill>
                <a:latin typeface="Aptos"/>
                <a:ea typeface="Aptos"/>
                <a:cs typeface="Aptos"/>
              </a:defRPr>
            </a:pPr>
            <a:r>
              <a:rPr sz="1350" b="0" dirty="0">
                <a:solidFill>
                  <a:srgbClr val="243447"/>
                </a:solidFill>
                <a:latin typeface="Aptos"/>
                <a:ea typeface="Aptos"/>
                <a:cs typeface="Aptos"/>
              </a:rPr>
              <a:t>Vite and JavaScript are used for the user interface.</a:t>
            </a:r>
          </a:p>
          <a:p>
            <a:endParaRPr sz="1350" b="0" dirty="0">
              <a:solidFill>
                <a:srgbClr val="243447"/>
              </a:solidFill>
              <a:latin typeface="Aptos"/>
              <a:ea typeface="Aptos"/>
              <a:cs typeface="Aptos"/>
            </a:endParaRPr>
          </a:p>
          <a:p>
            <a:pPr algn="l">
              <a:defRPr sz="1350" b="0">
                <a:solidFill>
                  <a:srgbClr val="243447"/>
                </a:solidFill>
                <a:latin typeface="Aptos"/>
                <a:ea typeface="Aptos"/>
                <a:cs typeface="Aptos"/>
              </a:defRPr>
            </a:pPr>
            <a:r>
              <a:rPr sz="1350" b="0" dirty="0" err="1">
                <a:solidFill>
                  <a:srgbClr val="243447"/>
                </a:solidFill>
                <a:latin typeface="Aptos"/>
                <a:ea typeface="Aptos"/>
                <a:cs typeface="Aptos"/>
              </a:rPr>
              <a:t>Cytoscape</a:t>
            </a:r>
            <a:r>
              <a:rPr sz="1350" b="0" dirty="0">
                <a:solidFill>
                  <a:srgbClr val="243447"/>
                </a:solidFill>
                <a:latin typeface="Aptos"/>
                <a:ea typeface="Aptos"/>
                <a:cs typeface="Aptos"/>
              </a:rPr>
              <a:t> is used to display and edit the diagram on the canvas.</a:t>
            </a:r>
          </a:p>
        </p:txBody>
      </p:sp>
      <p:sp>
        <p:nvSpPr>
          <p:cNvPr id="9" name="tech-backend">
            <a:extLst>
              <a:ext uri="{FF2B5EF4-FFF2-40B4-BE49-F238E27FC236}">
                <a16:creationId xmlns:a16="http://schemas.microsoft.com/office/drawing/2014/main" id="{EC007636-9E76-486B-8052-BAA886124E2C}"/>
              </a:ext>
            </a:extLst>
          </p:cNvPr>
          <p:cNvSpPr>
            <a:spLocks noGrp="1"/>
          </p:cNvSpPr>
          <p:nvPr/>
        </p:nvSpPr>
        <p:spPr>
          <a:xfrm>
            <a:off x="4476750" y="2133600"/>
            <a:ext cx="3238500" cy="2362200"/>
          </a:xfrm>
          <a:prstGeom prst="rect">
            <a:avLst/>
          </a:prstGeom>
          <a:solidFill>
            <a:srgbClr val="F7F3EC"/>
          </a:solidFill>
          <a:ln w="9525">
            <a:solidFill>
              <a:srgbClr val="DCEAF7"/>
            </a:solidFill>
            <a:prstDash val="solid"/>
          </a:ln>
        </p:spPr>
      </p:sp>
      <p:sp>
        <p:nvSpPr>
          <p:cNvPr id="10" name="tech-backend-title">
            <a:extLst>
              <a:ext uri="{FF2B5EF4-FFF2-40B4-BE49-F238E27FC236}">
                <a16:creationId xmlns:a16="http://schemas.microsoft.com/office/drawing/2014/main" id="{C6233178-6808-41C4-8FD1-4FE3FA88C792}"/>
              </a:ext>
            </a:extLst>
          </p:cNvPr>
          <p:cNvSpPr>
            <a:spLocks noGrp="1"/>
          </p:cNvSpPr>
          <p:nvPr/>
        </p:nvSpPr>
        <p:spPr>
          <a:xfrm>
            <a:off x="4667250" y="2305050"/>
            <a:ext cx="28575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00" b="1">
                <a:solidFill>
                  <a:srgbClr val="102033"/>
                </a:solidFill>
                <a:latin typeface="Aptos"/>
                <a:ea typeface="Aptos"/>
                <a:cs typeface="Aptos"/>
              </a:defRPr>
            </a:pPr>
            <a:r>
              <a:rPr sz="1500" b="1">
                <a:solidFill>
                  <a:srgbClr val="102033"/>
                </a:solidFill>
                <a:latin typeface="Aptos"/>
                <a:ea typeface="Aptos"/>
                <a:cs typeface="Aptos"/>
              </a:rPr>
              <a:t>Backend</a:t>
            </a:r>
          </a:p>
        </p:txBody>
      </p:sp>
      <p:sp>
        <p:nvSpPr>
          <p:cNvPr id="11" name="tech-backend-body">
            <a:extLst>
              <a:ext uri="{FF2B5EF4-FFF2-40B4-BE49-F238E27FC236}">
                <a16:creationId xmlns:a16="http://schemas.microsoft.com/office/drawing/2014/main" id="{B45A9127-BC77-4EB7-AB08-FDF42A2ECE61}"/>
              </a:ext>
            </a:extLst>
          </p:cNvPr>
          <p:cNvSpPr>
            <a:spLocks noGrp="1"/>
          </p:cNvSpPr>
          <p:nvPr/>
        </p:nvSpPr>
        <p:spPr>
          <a:xfrm>
            <a:off x="4667250" y="2686050"/>
            <a:ext cx="2857500" cy="1638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0">
                <a:solidFill>
                  <a:srgbClr val="243447"/>
                </a:solidFill>
                <a:latin typeface="Aptos"/>
                <a:ea typeface="Aptos"/>
                <a:cs typeface="Aptos"/>
              </a:defRPr>
            </a:pPr>
            <a:r>
              <a:rPr sz="1350" b="0">
                <a:solidFill>
                  <a:srgbClr val="243447"/>
                </a:solidFill>
                <a:latin typeface="Aptos"/>
                <a:ea typeface="Aptos"/>
                <a:cs typeface="Aptos"/>
              </a:rPr>
              <a:t>FastAPI manages the application logic and handles requests between the interface and the saved design data.</a:t>
            </a:r>
          </a:p>
        </p:txBody>
      </p:sp>
      <p:sp>
        <p:nvSpPr>
          <p:cNvPr id="12" name="tech-ai">
            <a:extLst>
              <a:ext uri="{FF2B5EF4-FFF2-40B4-BE49-F238E27FC236}">
                <a16:creationId xmlns:a16="http://schemas.microsoft.com/office/drawing/2014/main" id="{8B32D1A3-15E5-4130-8B16-D50B4D1871F0}"/>
              </a:ext>
            </a:extLst>
          </p:cNvPr>
          <p:cNvSpPr>
            <a:spLocks noGrp="1"/>
          </p:cNvSpPr>
          <p:nvPr/>
        </p:nvSpPr>
        <p:spPr>
          <a:xfrm>
            <a:off x="8172450" y="2133600"/>
            <a:ext cx="3238500" cy="2362200"/>
          </a:xfrm>
          <a:prstGeom prst="rect">
            <a:avLst/>
          </a:prstGeom>
          <a:solidFill>
            <a:srgbClr val="DDEEE6"/>
          </a:solidFill>
          <a:ln w="9525">
            <a:solidFill>
              <a:srgbClr val="DDEEE6"/>
            </a:solidFill>
            <a:prstDash val="solid"/>
          </a:ln>
        </p:spPr>
      </p:sp>
      <p:sp>
        <p:nvSpPr>
          <p:cNvPr id="13" name="tech-ai-title">
            <a:extLst>
              <a:ext uri="{FF2B5EF4-FFF2-40B4-BE49-F238E27FC236}">
                <a16:creationId xmlns:a16="http://schemas.microsoft.com/office/drawing/2014/main" id="{F73D6694-869F-4EED-89B9-32149FB0B63E}"/>
              </a:ext>
            </a:extLst>
          </p:cNvPr>
          <p:cNvSpPr>
            <a:spLocks noGrp="1"/>
          </p:cNvSpPr>
          <p:nvPr/>
        </p:nvSpPr>
        <p:spPr>
          <a:xfrm>
            <a:off x="8362950" y="2305050"/>
            <a:ext cx="28575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00" b="1">
                <a:solidFill>
                  <a:srgbClr val="102033"/>
                </a:solidFill>
                <a:latin typeface="Aptos"/>
                <a:ea typeface="Aptos"/>
                <a:cs typeface="Aptos"/>
              </a:defRPr>
            </a:pPr>
            <a:r>
              <a:rPr sz="1500" b="1">
                <a:solidFill>
                  <a:srgbClr val="102033"/>
                </a:solidFill>
                <a:latin typeface="Aptos"/>
                <a:ea typeface="Aptos"/>
                <a:cs typeface="Aptos"/>
              </a:rPr>
              <a:t>AI + storage</a:t>
            </a:r>
          </a:p>
        </p:txBody>
      </p:sp>
      <p:sp>
        <p:nvSpPr>
          <p:cNvPr id="14" name="tech-ai-body">
            <a:extLst>
              <a:ext uri="{FF2B5EF4-FFF2-40B4-BE49-F238E27FC236}">
                <a16:creationId xmlns:a16="http://schemas.microsoft.com/office/drawing/2014/main" id="{0D9857B9-AB78-4DA9-849E-BAA521993B05}"/>
              </a:ext>
            </a:extLst>
          </p:cNvPr>
          <p:cNvSpPr>
            <a:spLocks noGrp="1"/>
          </p:cNvSpPr>
          <p:nvPr/>
        </p:nvSpPr>
        <p:spPr>
          <a:xfrm>
            <a:off x="8362950" y="2686050"/>
            <a:ext cx="2857500" cy="1638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0">
                <a:solidFill>
                  <a:srgbClr val="243447"/>
                </a:solidFill>
                <a:latin typeface="Aptos"/>
                <a:ea typeface="Aptos"/>
                <a:cs typeface="Aptos"/>
              </a:defRPr>
            </a:pPr>
            <a:r>
              <a:rPr sz="1350" b="0">
                <a:solidFill>
                  <a:srgbClr val="243447"/>
                </a:solidFill>
                <a:latin typeface="Aptos"/>
                <a:ea typeface="Aptos"/>
                <a:cs typeface="Aptos"/>
              </a:rPr>
              <a:t>Groq powers the architecture chat, while a JSON-based design file stores the diagram state.</a:t>
            </a:r>
          </a:p>
        </p:txBody>
      </p:sp>
      <p:sp>
        <p:nvSpPr>
          <p:cNvPr id="15" name="tech-summary">
            <a:extLst>
              <a:ext uri="{FF2B5EF4-FFF2-40B4-BE49-F238E27FC236}">
                <a16:creationId xmlns:a16="http://schemas.microsoft.com/office/drawing/2014/main" id="{F9239310-BEB8-462E-8078-44B294EAD259}"/>
              </a:ext>
            </a:extLst>
          </p:cNvPr>
          <p:cNvSpPr>
            <a:spLocks noGrp="1"/>
          </p:cNvSpPr>
          <p:nvPr/>
        </p:nvSpPr>
        <p:spPr>
          <a:xfrm>
            <a:off x="1428750" y="5086350"/>
            <a:ext cx="9334500" cy="6667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800" b="1">
                <a:solidFill>
                  <a:srgbClr val="2E5B88"/>
                </a:solidFill>
                <a:latin typeface="Aptos Display"/>
                <a:ea typeface="Aptos Display"/>
                <a:cs typeface="Aptos Display"/>
              </a:defRPr>
            </a:pPr>
            <a:r>
              <a:rPr sz="1800" b="1">
                <a:solidFill>
                  <a:srgbClr val="2E5B88"/>
                </a:solidFill>
                <a:latin typeface="Aptos Display"/>
                <a:ea typeface="Aptos Display"/>
                <a:cs typeface="Aptos Display"/>
              </a:rPr>
              <a:t>The goal was not to use too many tools. The goal was to use a few suitable tools that support guidance, editing, and saving.</a:t>
            </a:r>
          </a:p>
        </p:txBody>
      </p:sp>
      <p:sp>
        <p:nvSpPr>
          <p:cNvPr id="16" name="footer">
            <a:extLst>
              <a:ext uri="{FF2B5EF4-FFF2-40B4-BE49-F238E27FC236}">
                <a16:creationId xmlns:a16="http://schemas.microsoft.com/office/drawing/2014/main" id="{D8E93937-6839-40FC-A5B9-AD41D89C115F}"/>
              </a:ext>
            </a:extLst>
          </p:cNvPr>
          <p:cNvSpPr>
            <a:spLocks noGrp="1"/>
          </p:cNvSpPr>
          <p:nvPr/>
        </p:nvSpPr>
        <p:spPr>
          <a:xfrm>
            <a:off x="609600" y="6515100"/>
            <a:ext cx="49530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0">
                <a:solidFill>
                  <a:srgbClr val="7A8793"/>
                </a:solidFill>
                <a:latin typeface="Aptos"/>
                <a:ea typeface="Aptos"/>
                <a:cs typeface="Aptos"/>
              </a:defRPr>
            </a:pPr>
            <a:r>
              <a:rPr sz="750" b="0">
                <a:solidFill>
                  <a:srgbClr val="7A8793"/>
                </a:solidFill>
                <a:latin typeface="Aptos"/>
                <a:ea typeface="Aptos"/>
                <a:cs typeface="Aptos"/>
              </a:rPr>
              <a:t>DiagramMaker AI</a:t>
            </a:r>
          </a:p>
        </p:txBody>
      </p:sp>
    </p:spTree>
    <p:extLst>
      <p:ext uri="{BB962C8B-B14F-4D97-AF65-F5344CB8AC3E}">
        <p14:creationId xmlns:p14="http://schemas.microsoft.com/office/powerpoint/2010/main" val="21403597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background">
            <a:extLst>
              <a:ext uri="{FF2B5EF4-FFF2-40B4-BE49-F238E27FC236}">
                <a16:creationId xmlns:a16="http://schemas.microsoft.com/office/drawing/2014/main" id="{57C8A79E-2FDE-416C-991B-07CC15C1B859}"/>
              </a:ext>
            </a:extLst>
          </p:cNvPr>
          <p:cNvSpPr>
            <a:spLocks noGrp="1"/>
          </p:cNvSpPr>
          <p:nvPr/>
        </p:nvSpPr>
        <p:spPr>
          <a:xfrm>
            <a:off x="0" y="0"/>
            <a:ext cx="12192000" cy="6858000"/>
          </a:xfrm>
          <a:prstGeom prst="rect">
            <a:avLst/>
          </a:prstGeom>
          <a:solidFill>
            <a:srgbClr val="F7F3EC"/>
          </a:solidFill>
          <a:ln w="0">
            <a:solidFill>
              <a:srgbClr val="F7F3EC"/>
            </a:solidFill>
            <a:prstDash val="solid"/>
          </a:ln>
        </p:spPr>
      </p:sp>
      <p:sp>
        <p:nvSpPr>
          <p:cNvPr id="2" name="top-band">
            <a:extLst>
              <a:ext uri="{FF2B5EF4-FFF2-40B4-BE49-F238E27FC236}">
                <a16:creationId xmlns:a16="http://schemas.microsoft.com/office/drawing/2014/main" id="{3472B874-6636-459C-A858-EEDF16608BEE}"/>
              </a:ext>
            </a:extLst>
          </p:cNvPr>
          <p:cNvSpPr>
            <a:spLocks noGrp="1"/>
          </p:cNvSpPr>
          <p:nvPr/>
        </p:nvSpPr>
        <p:spPr>
          <a:xfrm>
            <a:off x="0" y="0"/>
            <a:ext cx="12192000" cy="171450"/>
          </a:xfrm>
          <a:prstGeom prst="rect">
            <a:avLst/>
          </a:prstGeom>
          <a:solidFill>
            <a:srgbClr val="17324D"/>
          </a:solidFill>
          <a:ln w="0">
            <a:solidFill>
              <a:srgbClr val="17324D"/>
            </a:solidFill>
            <a:prstDash val="solid"/>
          </a:ln>
        </p:spPr>
      </p:sp>
      <p:sp>
        <p:nvSpPr>
          <p:cNvPr id="3" name="kicker-marker">
            <a:extLst>
              <a:ext uri="{FF2B5EF4-FFF2-40B4-BE49-F238E27FC236}">
                <a16:creationId xmlns:a16="http://schemas.microsoft.com/office/drawing/2014/main" id="{BD0A0357-5AF7-419B-B531-4A62B4C1D85E}"/>
              </a:ext>
            </a:extLst>
          </p:cNvPr>
          <p:cNvSpPr>
            <a:spLocks noGrp="1"/>
          </p:cNvSpPr>
          <p:nvPr/>
        </p:nvSpPr>
        <p:spPr>
          <a:xfrm>
            <a:off x="609600" y="533400"/>
            <a:ext cx="571500" cy="114300"/>
          </a:xfrm>
          <a:prstGeom prst="rect">
            <a:avLst/>
          </a:prstGeom>
          <a:solidFill>
            <a:srgbClr val="C88A2D"/>
          </a:solidFill>
          <a:ln w="0">
            <a:solidFill>
              <a:srgbClr val="C88A2D"/>
            </a:solidFill>
            <a:prstDash val="solid"/>
          </a:ln>
        </p:spPr>
      </p:sp>
      <p:sp>
        <p:nvSpPr>
          <p:cNvPr id="4" name="kicker-label">
            <a:extLst>
              <a:ext uri="{FF2B5EF4-FFF2-40B4-BE49-F238E27FC236}">
                <a16:creationId xmlns:a16="http://schemas.microsoft.com/office/drawing/2014/main" id="{ACDE19D3-8E8E-49F1-97DD-B36BA64D0771}"/>
              </a:ext>
            </a:extLst>
          </p:cNvPr>
          <p:cNvSpPr>
            <a:spLocks noGrp="1"/>
          </p:cNvSpPr>
          <p:nvPr/>
        </p:nvSpPr>
        <p:spPr>
          <a:xfrm>
            <a:off x="1295400" y="381000"/>
            <a:ext cx="2476500" cy="4191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1">
                <a:solidFill>
                  <a:srgbClr val="2E5B88"/>
                </a:solidFill>
                <a:latin typeface="Aptos"/>
                <a:ea typeface="Aptos"/>
                <a:cs typeface="Aptos"/>
              </a:defRPr>
            </a:pPr>
            <a:r>
              <a:rPr sz="1275" b="1">
                <a:solidFill>
                  <a:srgbClr val="2E5B88"/>
                </a:solidFill>
                <a:latin typeface="Aptos"/>
                <a:ea typeface="Aptos"/>
                <a:cs typeface="Aptos"/>
              </a:rPr>
              <a:t>HOW IT WORKS</a:t>
            </a:r>
          </a:p>
        </p:txBody>
      </p:sp>
      <p:sp>
        <p:nvSpPr>
          <p:cNvPr id="5" name="title">
            <a:extLst>
              <a:ext uri="{FF2B5EF4-FFF2-40B4-BE49-F238E27FC236}">
                <a16:creationId xmlns:a16="http://schemas.microsoft.com/office/drawing/2014/main" id="{F75CA852-8F13-43EA-8B70-F434B8E8E14E}"/>
              </a:ext>
            </a:extLst>
          </p:cNvPr>
          <p:cNvSpPr>
            <a:spLocks noGrp="1"/>
          </p:cNvSpPr>
          <p:nvPr/>
        </p:nvSpPr>
        <p:spPr>
          <a:xfrm>
            <a:off x="609600" y="933450"/>
            <a:ext cx="7239000" cy="876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250" b="1">
                <a:solidFill>
                  <a:srgbClr val="102033"/>
                </a:solidFill>
                <a:latin typeface="Aptos Display"/>
                <a:ea typeface="Aptos Display"/>
                <a:cs typeface="Aptos Display"/>
              </a:defRPr>
            </a:pPr>
            <a:r>
              <a:rPr sz="2250" b="1">
                <a:solidFill>
                  <a:srgbClr val="102033"/>
                </a:solidFill>
                <a:latin typeface="Aptos Display"/>
                <a:ea typeface="Aptos Display"/>
                <a:cs typeface="Aptos Display"/>
              </a:rPr>
              <a:t>The workflow is easy to explain in four steps.</a:t>
            </a:r>
          </a:p>
        </p:txBody>
      </p:sp>
      <p:sp>
        <p:nvSpPr>
          <p:cNvPr id="6" name="step-circle-1">
            <a:extLst>
              <a:ext uri="{FF2B5EF4-FFF2-40B4-BE49-F238E27FC236}">
                <a16:creationId xmlns:a16="http://schemas.microsoft.com/office/drawing/2014/main" id="{72AD4E2D-E535-4E7E-B7EF-9676E1439E6B}"/>
              </a:ext>
            </a:extLst>
          </p:cNvPr>
          <p:cNvSpPr>
            <a:spLocks noGrp="1"/>
          </p:cNvSpPr>
          <p:nvPr/>
        </p:nvSpPr>
        <p:spPr>
          <a:xfrm>
            <a:off x="1581150" y="1924050"/>
            <a:ext cx="609600" cy="609600"/>
          </a:xfrm>
          <a:prstGeom prst="rect">
            <a:avLst/>
          </a:prstGeom>
          <a:solidFill>
            <a:srgbClr val="17324D"/>
          </a:solidFill>
          <a:ln w="0">
            <a:solidFill>
              <a:srgbClr val="17324D"/>
            </a:solidFill>
            <a:prstDash val="solid"/>
          </a:ln>
        </p:spPr>
      </p:sp>
      <p:sp>
        <p:nvSpPr>
          <p:cNvPr id="7" name="step-number-1">
            <a:extLst>
              <a:ext uri="{FF2B5EF4-FFF2-40B4-BE49-F238E27FC236}">
                <a16:creationId xmlns:a16="http://schemas.microsoft.com/office/drawing/2014/main" id="{B4B12F60-E689-4986-B211-19D23A6BB63C}"/>
              </a:ext>
            </a:extLst>
          </p:cNvPr>
          <p:cNvSpPr>
            <a:spLocks noGrp="1"/>
          </p:cNvSpPr>
          <p:nvPr/>
        </p:nvSpPr>
        <p:spPr>
          <a:xfrm>
            <a:off x="1581150" y="2038350"/>
            <a:ext cx="6096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2100" b="1">
                <a:solidFill>
                  <a:srgbClr val="FFFFFF"/>
                </a:solidFill>
                <a:latin typeface="Aptos Display"/>
                <a:ea typeface="Aptos Display"/>
                <a:cs typeface="Aptos Display"/>
              </a:defRPr>
            </a:pPr>
            <a:r>
              <a:rPr sz="2100" b="1">
                <a:solidFill>
                  <a:srgbClr val="FFFFFF"/>
                </a:solidFill>
                <a:latin typeface="Aptos Display"/>
                <a:ea typeface="Aptos Display"/>
                <a:cs typeface="Aptos Display"/>
              </a:rPr>
              <a:t>1</a:t>
            </a:r>
          </a:p>
        </p:txBody>
      </p:sp>
      <p:sp>
        <p:nvSpPr>
          <p:cNvPr id="8" name="step-card-1">
            <a:extLst>
              <a:ext uri="{FF2B5EF4-FFF2-40B4-BE49-F238E27FC236}">
                <a16:creationId xmlns:a16="http://schemas.microsoft.com/office/drawing/2014/main" id="{BFD81E70-D05C-4F4A-91AF-F542D892FFE1}"/>
              </a:ext>
            </a:extLst>
          </p:cNvPr>
          <p:cNvSpPr>
            <a:spLocks noGrp="1"/>
          </p:cNvSpPr>
          <p:nvPr/>
        </p:nvSpPr>
        <p:spPr>
          <a:xfrm>
            <a:off x="685800" y="2705100"/>
            <a:ext cx="2381250" cy="1962150"/>
          </a:xfrm>
          <a:prstGeom prst="rect">
            <a:avLst/>
          </a:prstGeom>
          <a:solidFill>
            <a:srgbClr val="F6E0D9"/>
          </a:solidFill>
          <a:ln w="9525">
            <a:solidFill>
              <a:srgbClr val="F6E0D9"/>
            </a:solidFill>
            <a:prstDash val="solid"/>
          </a:ln>
        </p:spPr>
      </p:sp>
      <p:sp>
        <p:nvSpPr>
          <p:cNvPr id="9" name="step-card-1-title">
            <a:extLst>
              <a:ext uri="{FF2B5EF4-FFF2-40B4-BE49-F238E27FC236}">
                <a16:creationId xmlns:a16="http://schemas.microsoft.com/office/drawing/2014/main" id="{115412E2-89A3-4544-8805-431CE9CC379F}"/>
              </a:ext>
            </a:extLst>
          </p:cNvPr>
          <p:cNvSpPr>
            <a:spLocks noGrp="1"/>
          </p:cNvSpPr>
          <p:nvPr/>
        </p:nvSpPr>
        <p:spPr>
          <a:xfrm>
            <a:off x="876300" y="2876550"/>
            <a:ext cx="200025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00" b="1">
                <a:solidFill>
                  <a:srgbClr val="102033"/>
                </a:solidFill>
                <a:latin typeface="Aptos"/>
                <a:ea typeface="Aptos"/>
                <a:cs typeface="Aptos"/>
              </a:defRPr>
            </a:pPr>
            <a:r>
              <a:rPr sz="1500" b="1">
                <a:solidFill>
                  <a:srgbClr val="102033"/>
                </a:solidFill>
                <a:latin typeface="Aptos"/>
                <a:ea typeface="Aptos"/>
                <a:cs typeface="Aptos"/>
              </a:rPr>
              <a:t>Step 1</a:t>
            </a:r>
          </a:p>
        </p:txBody>
      </p:sp>
      <p:sp>
        <p:nvSpPr>
          <p:cNvPr id="10" name="step-card-1-body">
            <a:extLst>
              <a:ext uri="{FF2B5EF4-FFF2-40B4-BE49-F238E27FC236}">
                <a16:creationId xmlns:a16="http://schemas.microsoft.com/office/drawing/2014/main" id="{65A72354-7099-40E7-861F-BE7B798D9491}"/>
              </a:ext>
            </a:extLst>
          </p:cNvPr>
          <p:cNvSpPr>
            <a:spLocks noGrp="1"/>
          </p:cNvSpPr>
          <p:nvPr/>
        </p:nvSpPr>
        <p:spPr>
          <a:xfrm>
            <a:off x="876300" y="3257550"/>
            <a:ext cx="2000250" cy="12382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0">
                <a:solidFill>
                  <a:srgbClr val="243447"/>
                </a:solidFill>
                <a:latin typeface="Aptos"/>
                <a:ea typeface="Aptos"/>
                <a:cs typeface="Aptos"/>
              </a:defRPr>
            </a:pPr>
            <a:r>
              <a:rPr sz="1350" b="0">
                <a:solidFill>
                  <a:srgbClr val="243447"/>
                </a:solidFill>
                <a:latin typeface="Aptos"/>
                <a:ea typeface="Aptos"/>
                <a:cs typeface="Aptos"/>
              </a:rPr>
              <a:t>User enters an idea or asks about a system design problem.</a:t>
            </a:r>
          </a:p>
        </p:txBody>
      </p:sp>
      <p:sp>
        <p:nvSpPr>
          <p:cNvPr id="11" name="step-circle-2">
            <a:extLst>
              <a:ext uri="{FF2B5EF4-FFF2-40B4-BE49-F238E27FC236}">
                <a16:creationId xmlns:a16="http://schemas.microsoft.com/office/drawing/2014/main" id="{DA5247BF-6B6A-45A3-8BE2-37B021C786F1}"/>
              </a:ext>
            </a:extLst>
          </p:cNvPr>
          <p:cNvSpPr>
            <a:spLocks noGrp="1"/>
          </p:cNvSpPr>
          <p:nvPr/>
        </p:nvSpPr>
        <p:spPr>
          <a:xfrm>
            <a:off x="4362450" y="1924050"/>
            <a:ext cx="609600" cy="609600"/>
          </a:xfrm>
          <a:prstGeom prst="rect">
            <a:avLst/>
          </a:prstGeom>
          <a:solidFill>
            <a:srgbClr val="17324D"/>
          </a:solidFill>
          <a:ln w="0">
            <a:solidFill>
              <a:srgbClr val="17324D"/>
            </a:solidFill>
            <a:prstDash val="solid"/>
          </a:ln>
        </p:spPr>
      </p:sp>
      <p:sp>
        <p:nvSpPr>
          <p:cNvPr id="12" name="step-number-2">
            <a:extLst>
              <a:ext uri="{FF2B5EF4-FFF2-40B4-BE49-F238E27FC236}">
                <a16:creationId xmlns:a16="http://schemas.microsoft.com/office/drawing/2014/main" id="{4950DF08-4BE0-4085-B80A-32DD785C96CA}"/>
              </a:ext>
            </a:extLst>
          </p:cNvPr>
          <p:cNvSpPr>
            <a:spLocks noGrp="1"/>
          </p:cNvSpPr>
          <p:nvPr/>
        </p:nvSpPr>
        <p:spPr>
          <a:xfrm>
            <a:off x="4362450" y="2038350"/>
            <a:ext cx="6096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2100" b="1">
                <a:solidFill>
                  <a:srgbClr val="FFFFFF"/>
                </a:solidFill>
                <a:latin typeface="Aptos Display"/>
                <a:ea typeface="Aptos Display"/>
                <a:cs typeface="Aptos Display"/>
              </a:defRPr>
            </a:pPr>
            <a:r>
              <a:rPr sz="2100" b="1">
                <a:solidFill>
                  <a:srgbClr val="FFFFFF"/>
                </a:solidFill>
                <a:latin typeface="Aptos Display"/>
                <a:ea typeface="Aptos Display"/>
                <a:cs typeface="Aptos Display"/>
              </a:rPr>
              <a:t>2</a:t>
            </a:r>
          </a:p>
        </p:txBody>
      </p:sp>
      <p:sp>
        <p:nvSpPr>
          <p:cNvPr id="13" name="step-card-2">
            <a:extLst>
              <a:ext uri="{FF2B5EF4-FFF2-40B4-BE49-F238E27FC236}">
                <a16:creationId xmlns:a16="http://schemas.microsoft.com/office/drawing/2014/main" id="{76523E18-81EC-48D0-9487-8A16A02FB993}"/>
              </a:ext>
            </a:extLst>
          </p:cNvPr>
          <p:cNvSpPr>
            <a:spLocks noGrp="1"/>
          </p:cNvSpPr>
          <p:nvPr/>
        </p:nvSpPr>
        <p:spPr>
          <a:xfrm>
            <a:off x="3467100" y="2705100"/>
            <a:ext cx="2381250" cy="1962150"/>
          </a:xfrm>
          <a:prstGeom prst="rect">
            <a:avLst/>
          </a:prstGeom>
          <a:solidFill>
            <a:srgbClr val="DCEAF7"/>
          </a:solidFill>
          <a:ln w="9525">
            <a:solidFill>
              <a:srgbClr val="DCEAF7"/>
            </a:solidFill>
            <a:prstDash val="solid"/>
          </a:ln>
        </p:spPr>
      </p:sp>
      <p:sp>
        <p:nvSpPr>
          <p:cNvPr id="14" name="step-card-2-title">
            <a:extLst>
              <a:ext uri="{FF2B5EF4-FFF2-40B4-BE49-F238E27FC236}">
                <a16:creationId xmlns:a16="http://schemas.microsoft.com/office/drawing/2014/main" id="{609625F8-B117-4A37-B81F-4EA1AC4FB25A}"/>
              </a:ext>
            </a:extLst>
          </p:cNvPr>
          <p:cNvSpPr>
            <a:spLocks noGrp="1"/>
          </p:cNvSpPr>
          <p:nvPr/>
        </p:nvSpPr>
        <p:spPr>
          <a:xfrm>
            <a:off x="3657600" y="2876550"/>
            <a:ext cx="200025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00" b="1">
                <a:solidFill>
                  <a:srgbClr val="102033"/>
                </a:solidFill>
                <a:latin typeface="Aptos"/>
                <a:ea typeface="Aptos"/>
                <a:cs typeface="Aptos"/>
              </a:defRPr>
            </a:pPr>
            <a:r>
              <a:rPr sz="1500" b="1">
                <a:solidFill>
                  <a:srgbClr val="102033"/>
                </a:solidFill>
                <a:latin typeface="Aptos"/>
                <a:ea typeface="Aptos"/>
                <a:cs typeface="Aptos"/>
              </a:rPr>
              <a:t>Step 2</a:t>
            </a:r>
          </a:p>
        </p:txBody>
      </p:sp>
      <p:sp>
        <p:nvSpPr>
          <p:cNvPr id="15" name="step-card-2-body">
            <a:extLst>
              <a:ext uri="{FF2B5EF4-FFF2-40B4-BE49-F238E27FC236}">
                <a16:creationId xmlns:a16="http://schemas.microsoft.com/office/drawing/2014/main" id="{E945CE54-2671-490B-8FCC-E494E02FA3A9}"/>
              </a:ext>
            </a:extLst>
          </p:cNvPr>
          <p:cNvSpPr>
            <a:spLocks noGrp="1"/>
          </p:cNvSpPr>
          <p:nvPr/>
        </p:nvSpPr>
        <p:spPr>
          <a:xfrm>
            <a:off x="3657600" y="3257550"/>
            <a:ext cx="2000250" cy="12382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0">
                <a:solidFill>
                  <a:srgbClr val="243447"/>
                </a:solidFill>
                <a:latin typeface="Aptos"/>
                <a:ea typeface="Aptos"/>
                <a:cs typeface="Aptos"/>
              </a:defRPr>
            </a:pPr>
            <a:r>
              <a:rPr sz="1350" b="0">
                <a:solidFill>
                  <a:srgbClr val="243447"/>
                </a:solidFill>
                <a:latin typeface="Aptos"/>
                <a:ea typeface="Aptos"/>
                <a:cs typeface="Aptos"/>
              </a:rPr>
              <a:t>The platform gives AI-based guidance and opens a visual workspace.</a:t>
            </a:r>
          </a:p>
        </p:txBody>
      </p:sp>
      <p:sp>
        <p:nvSpPr>
          <p:cNvPr id="16" name="step-circle-3">
            <a:extLst>
              <a:ext uri="{FF2B5EF4-FFF2-40B4-BE49-F238E27FC236}">
                <a16:creationId xmlns:a16="http://schemas.microsoft.com/office/drawing/2014/main" id="{666415C0-C72A-4C10-B2AC-69B7E493EF24}"/>
              </a:ext>
            </a:extLst>
          </p:cNvPr>
          <p:cNvSpPr>
            <a:spLocks noGrp="1"/>
          </p:cNvSpPr>
          <p:nvPr/>
        </p:nvSpPr>
        <p:spPr>
          <a:xfrm>
            <a:off x="7143750" y="1924050"/>
            <a:ext cx="609600" cy="609600"/>
          </a:xfrm>
          <a:prstGeom prst="rect">
            <a:avLst/>
          </a:prstGeom>
          <a:solidFill>
            <a:srgbClr val="17324D"/>
          </a:solidFill>
          <a:ln w="0">
            <a:solidFill>
              <a:srgbClr val="17324D"/>
            </a:solidFill>
            <a:prstDash val="solid"/>
          </a:ln>
        </p:spPr>
      </p:sp>
      <p:sp>
        <p:nvSpPr>
          <p:cNvPr id="17" name="step-number-3">
            <a:extLst>
              <a:ext uri="{FF2B5EF4-FFF2-40B4-BE49-F238E27FC236}">
                <a16:creationId xmlns:a16="http://schemas.microsoft.com/office/drawing/2014/main" id="{E7626F42-6007-4292-8AD8-18823B49CB78}"/>
              </a:ext>
            </a:extLst>
          </p:cNvPr>
          <p:cNvSpPr>
            <a:spLocks noGrp="1"/>
          </p:cNvSpPr>
          <p:nvPr/>
        </p:nvSpPr>
        <p:spPr>
          <a:xfrm>
            <a:off x="7143750" y="2038350"/>
            <a:ext cx="6096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2100" b="1">
                <a:solidFill>
                  <a:srgbClr val="FFFFFF"/>
                </a:solidFill>
                <a:latin typeface="Aptos Display"/>
                <a:ea typeface="Aptos Display"/>
                <a:cs typeface="Aptos Display"/>
              </a:defRPr>
            </a:pPr>
            <a:r>
              <a:rPr sz="2100" b="1">
                <a:solidFill>
                  <a:srgbClr val="FFFFFF"/>
                </a:solidFill>
                <a:latin typeface="Aptos Display"/>
                <a:ea typeface="Aptos Display"/>
                <a:cs typeface="Aptos Display"/>
              </a:rPr>
              <a:t>3</a:t>
            </a:r>
          </a:p>
        </p:txBody>
      </p:sp>
      <p:sp>
        <p:nvSpPr>
          <p:cNvPr id="18" name="step-card-3">
            <a:extLst>
              <a:ext uri="{FF2B5EF4-FFF2-40B4-BE49-F238E27FC236}">
                <a16:creationId xmlns:a16="http://schemas.microsoft.com/office/drawing/2014/main" id="{A5E3DBD7-B2E7-416F-8AB9-E81D9EFFC640}"/>
              </a:ext>
            </a:extLst>
          </p:cNvPr>
          <p:cNvSpPr>
            <a:spLocks noGrp="1"/>
          </p:cNvSpPr>
          <p:nvPr/>
        </p:nvSpPr>
        <p:spPr>
          <a:xfrm>
            <a:off x="6248400" y="2705100"/>
            <a:ext cx="2381250" cy="1962150"/>
          </a:xfrm>
          <a:prstGeom prst="rect">
            <a:avLst/>
          </a:prstGeom>
          <a:solidFill>
            <a:srgbClr val="DDEEE6"/>
          </a:solidFill>
          <a:ln w="9525">
            <a:solidFill>
              <a:srgbClr val="DDEEE6"/>
            </a:solidFill>
            <a:prstDash val="solid"/>
          </a:ln>
        </p:spPr>
      </p:sp>
      <p:sp>
        <p:nvSpPr>
          <p:cNvPr id="19" name="step-card-3-title">
            <a:extLst>
              <a:ext uri="{FF2B5EF4-FFF2-40B4-BE49-F238E27FC236}">
                <a16:creationId xmlns:a16="http://schemas.microsoft.com/office/drawing/2014/main" id="{8B60664D-796D-47F7-BB60-580448271368}"/>
              </a:ext>
            </a:extLst>
          </p:cNvPr>
          <p:cNvSpPr>
            <a:spLocks noGrp="1"/>
          </p:cNvSpPr>
          <p:nvPr/>
        </p:nvSpPr>
        <p:spPr>
          <a:xfrm>
            <a:off x="6438900" y="2876550"/>
            <a:ext cx="200025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00" b="1">
                <a:solidFill>
                  <a:srgbClr val="102033"/>
                </a:solidFill>
                <a:latin typeface="Aptos"/>
                <a:ea typeface="Aptos"/>
                <a:cs typeface="Aptos"/>
              </a:defRPr>
            </a:pPr>
            <a:r>
              <a:rPr sz="1500" b="1">
                <a:solidFill>
                  <a:srgbClr val="102033"/>
                </a:solidFill>
                <a:latin typeface="Aptos"/>
                <a:ea typeface="Aptos"/>
                <a:cs typeface="Aptos"/>
              </a:rPr>
              <a:t>Step 3</a:t>
            </a:r>
          </a:p>
        </p:txBody>
      </p:sp>
      <p:sp>
        <p:nvSpPr>
          <p:cNvPr id="20" name="step-card-3-body">
            <a:extLst>
              <a:ext uri="{FF2B5EF4-FFF2-40B4-BE49-F238E27FC236}">
                <a16:creationId xmlns:a16="http://schemas.microsoft.com/office/drawing/2014/main" id="{8A53652B-8A9E-482D-A0E8-D8E1AFDE6727}"/>
              </a:ext>
            </a:extLst>
          </p:cNvPr>
          <p:cNvSpPr>
            <a:spLocks noGrp="1"/>
          </p:cNvSpPr>
          <p:nvPr/>
        </p:nvSpPr>
        <p:spPr>
          <a:xfrm>
            <a:off x="6438900" y="3257550"/>
            <a:ext cx="2000250" cy="12382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0">
                <a:solidFill>
                  <a:srgbClr val="243447"/>
                </a:solidFill>
                <a:latin typeface="Aptos"/>
                <a:ea typeface="Aptos"/>
                <a:cs typeface="Aptos"/>
              </a:defRPr>
            </a:pPr>
            <a:r>
              <a:rPr sz="1350" b="0">
                <a:solidFill>
                  <a:srgbClr val="243447"/>
                </a:solidFill>
                <a:latin typeface="Aptos"/>
                <a:ea typeface="Aptos"/>
                <a:cs typeface="Aptos"/>
              </a:rPr>
              <a:t>The user edits the diagram by adding nodes, edges, and labels.</a:t>
            </a:r>
          </a:p>
        </p:txBody>
      </p:sp>
      <p:sp>
        <p:nvSpPr>
          <p:cNvPr id="21" name="step-circle-4">
            <a:extLst>
              <a:ext uri="{FF2B5EF4-FFF2-40B4-BE49-F238E27FC236}">
                <a16:creationId xmlns:a16="http://schemas.microsoft.com/office/drawing/2014/main" id="{A79498E5-AEBD-43EC-9EA9-0FFB2355F091}"/>
              </a:ext>
            </a:extLst>
          </p:cNvPr>
          <p:cNvSpPr>
            <a:spLocks noGrp="1"/>
          </p:cNvSpPr>
          <p:nvPr/>
        </p:nvSpPr>
        <p:spPr>
          <a:xfrm>
            <a:off x="9925050" y="1924050"/>
            <a:ext cx="609600" cy="609600"/>
          </a:xfrm>
          <a:prstGeom prst="rect">
            <a:avLst/>
          </a:prstGeom>
          <a:solidFill>
            <a:srgbClr val="17324D"/>
          </a:solidFill>
          <a:ln w="0">
            <a:solidFill>
              <a:srgbClr val="17324D"/>
            </a:solidFill>
            <a:prstDash val="solid"/>
          </a:ln>
        </p:spPr>
      </p:sp>
      <p:sp>
        <p:nvSpPr>
          <p:cNvPr id="22" name="step-number-4">
            <a:extLst>
              <a:ext uri="{FF2B5EF4-FFF2-40B4-BE49-F238E27FC236}">
                <a16:creationId xmlns:a16="http://schemas.microsoft.com/office/drawing/2014/main" id="{DB7B9705-02B3-4752-A461-08A86A23A959}"/>
              </a:ext>
            </a:extLst>
          </p:cNvPr>
          <p:cNvSpPr>
            <a:spLocks noGrp="1"/>
          </p:cNvSpPr>
          <p:nvPr/>
        </p:nvSpPr>
        <p:spPr>
          <a:xfrm>
            <a:off x="9925050" y="2038350"/>
            <a:ext cx="6096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2100" b="1">
                <a:solidFill>
                  <a:srgbClr val="FFFFFF"/>
                </a:solidFill>
                <a:latin typeface="Aptos Display"/>
                <a:ea typeface="Aptos Display"/>
                <a:cs typeface="Aptos Display"/>
              </a:defRPr>
            </a:pPr>
            <a:r>
              <a:rPr sz="2100" b="1">
                <a:solidFill>
                  <a:srgbClr val="FFFFFF"/>
                </a:solidFill>
                <a:latin typeface="Aptos Display"/>
                <a:ea typeface="Aptos Display"/>
                <a:cs typeface="Aptos Display"/>
              </a:rPr>
              <a:t>4</a:t>
            </a:r>
          </a:p>
        </p:txBody>
      </p:sp>
      <p:sp>
        <p:nvSpPr>
          <p:cNvPr id="23" name="step-card-4">
            <a:extLst>
              <a:ext uri="{FF2B5EF4-FFF2-40B4-BE49-F238E27FC236}">
                <a16:creationId xmlns:a16="http://schemas.microsoft.com/office/drawing/2014/main" id="{C0A94B77-D3C7-4991-B43B-4292E5148A63}"/>
              </a:ext>
            </a:extLst>
          </p:cNvPr>
          <p:cNvSpPr>
            <a:spLocks noGrp="1"/>
          </p:cNvSpPr>
          <p:nvPr/>
        </p:nvSpPr>
        <p:spPr>
          <a:xfrm>
            <a:off x="9029700" y="2705100"/>
            <a:ext cx="2381250" cy="1962150"/>
          </a:xfrm>
          <a:prstGeom prst="rect">
            <a:avLst/>
          </a:prstGeom>
          <a:solidFill>
            <a:srgbClr val="F7F3EC"/>
          </a:solidFill>
          <a:ln w="9525">
            <a:solidFill>
              <a:srgbClr val="F7F3EC"/>
            </a:solidFill>
            <a:prstDash val="solid"/>
          </a:ln>
        </p:spPr>
      </p:sp>
      <p:sp>
        <p:nvSpPr>
          <p:cNvPr id="24" name="step-card-4-title">
            <a:extLst>
              <a:ext uri="{FF2B5EF4-FFF2-40B4-BE49-F238E27FC236}">
                <a16:creationId xmlns:a16="http://schemas.microsoft.com/office/drawing/2014/main" id="{026FACCC-06FF-4C0B-B7E6-29252C02CA44}"/>
              </a:ext>
            </a:extLst>
          </p:cNvPr>
          <p:cNvSpPr>
            <a:spLocks noGrp="1"/>
          </p:cNvSpPr>
          <p:nvPr/>
        </p:nvSpPr>
        <p:spPr>
          <a:xfrm>
            <a:off x="9220200" y="2876550"/>
            <a:ext cx="200025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00" b="1">
                <a:solidFill>
                  <a:srgbClr val="102033"/>
                </a:solidFill>
                <a:latin typeface="Aptos"/>
                <a:ea typeface="Aptos"/>
                <a:cs typeface="Aptos"/>
              </a:defRPr>
            </a:pPr>
            <a:r>
              <a:rPr sz="1500" b="1">
                <a:solidFill>
                  <a:srgbClr val="102033"/>
                </a:solidFill>
                <a:latin typeface="Aptos"/>
                <a:ea typeface="Aptos"/>
                <a:cs typeface="Aptos"/>
              </a:rPr>
              <a:t>Step 4</a:t>
            </a:r>
          </a:p>
        </p:txBody>
      </p:sp>
      <p:sp>
        <p:nvSpPr>
          <p:cNvPr id="25" name="step-card-4-body">
            <a:extLst>
              <a:ext uri="{FF2B5EF4-FFF2-40B4-BE49-F238E27FC236}">
                <a16:creationId xmlns:a16="http://schemas.microsoft.com/office/drawing/2014/main" id="{6313CCD3-4ABE-463D-939F-4AEC9E79C4FB}"/>
              </a:ext>
            </a:extLst>
          </p:cNvPr>
          <p:cNvSpPr>
            <a:spLocks noGrp="1"/>
          </p:cNvSpPr>
          <p:nvPr/>
        </p:nvSpPr>
        <p:spPr>
          <a:xfrm>
            <a:off x="9220200" y="3257550"/>
            <a:ext cx="2000250" cy="12382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0">
                <a:solidFill>
                  <a:srgbClr val="243447"/>
                </a:solidFill>
                <a:latin typeface="Aptos"/>
                <a:ea typeface="Aptos"/>
                <a:cs typeface="Aptos"/>
              </a:defRPr>
            </a:pPr>
            <a:r>
              <a:rPr sz="1350" b="0">
                <a:solidFill>
                  <a:srgbClr val="243447"/>
                </a:solidFill>
                <a:latin typeface="Aptos"/>
                <a:ea typeface="Aptos"/>
                <a:cs typeface="Aptos"/>
              </a:rPr>
              <a:t>The updated diagram is saved so the design remains consistent.</a:t>
            </a:r>
          </a:p>
        </p:txBody>
      </p:sp>
      <p:sp>
        <p:nvSpPr>
          <p:cNvPr id="26" name="workflow-summary">
            <a:extLst>
              <a:ext uri="{FF2B5EF4-FFF2-40B4-BE49-F238E27FC236}">
                <a16:creationId xmlns:a16="http://schemas.microsoft.com/office/drawing/2014/main" id="{F431775A-DE7E-4703-A2DE-9A1674526363}"/>
              </a:ext>
            </a:extLst>
          </p:cNvPr>
          <p:cNvSpPr>
            <a:spLocks noGrp="1"/>
          </p:cNvSpPr>
          <p:nvPr/>
        </p:nvSpPr>
        <p:spPr>
          <a:xfrm>
            <a:off x="1295400" y="5276850"/>
            <a:ext cx="962025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2100" b="1">
                <a:solidFill>
                  <a:srgbClr val="102033"/>
                </a:solidFill>
                <a:latin typeface="Aptos Display"/>
                <a:ea typeface="Aptos Display"/>
                <a:cs typeface="Aptos Display"/>
              </a:defRPr>
            </a:pPr>
            <a:r>
              <a:rPr sz="2100" b="1">
                <a:solidFill>
                  <a:srgbClr val="102033"/>
                </a:solidFill>
                <a:latin typeface="Aptos Display"/>
                <a:ea typeface="Aptos Display"/>
                <a:cs typeface="Aptos Display"/>
              </a:rPr>
              <a:t>This creates a cycle of think -&gt; build -&gt; improve -&gt; save.</a:t>
            </a:r>
          </a:p>
        </p:txBody>
      </p:sp>
      <p:sp>
        <p:nvSpPr>
          <p:cNvPr id="27" name="footer">
            <a:extLst>
              <a:ext uri="{FF2B5EF4-FFF2-40B4-BE49-F238E27FC236}">
                <a16:creationId xmlns:a16="http://schemas.microsoft.com/office/drawing/2014/main" id="{CA631EB2-94F9-43FB-9727-CB43937CED80}"/>
              </a:ext>
            </a:extLst>
          </p:cNvPr>
          <p:cNvSpPr>
            <a:spLocks noGrp="1"/>
          </p:cNvSpPr>
          <p:nvPr/>
        </p:nvSpPr>
        <p:spPr>
          <a:xfrm>
            <a:off x="609600" y="6515100"/>
            <a:ext cx="49530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0">
                <a:solidFill>
                  <a:srgbClr val="7A8793"/>
                </a:solidFill>
                <a:latin typeface="Aptos"/>
                <a:ea typeface="Aptos"/>
                <a:cs typeface="Aptos"/>
              </a:defRPr>
            </a:pPr>
            <a:r>
              <a:rPr sz="750" b="0">
                <a:solidFill>
                  <a:srgbClr val="7A8793"/>
                </a:solidFill>
                <a:latin typeface="Aptos"/>
                <a:ea typeface="Aptos"/>
                <a:cs typeface="Aptos"/>
              </a:rPr>
              <a:t>DiagramMaker AI</a:t>
            </a:r>
          </a:p>
        </p:txBody>
      </p:sp>
    </p:spTree>
    <p:extLst>
      <p:ext uri="{BB962C8B-B14F-4D97-AF65-F5344CB8AC3E}">
        <p14:creationId xmlns:p14="http://schemas.microsoft.com/office/powerpoint/2010/main" val="7820574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background">
            <a:extLst>
              <a:ext uri="{FF2B5EF4-FFF2-40B4-BE49-F238E27FC236}">
                <a16:creationId xmlns:a16="http://schemas.microsoft.com/office/drawing/2014/main" id="{F13D8D91-EF76-4356-8961-B4E92A0882CE}"/>
              </a:ext>
            </a:extLst>
          </p:cNvPr>
          <p:cNvSpPr>
            <a:spLocks noGrp="1"/>
          </p:cNvSpPr>
          <p:nvPr/>
        </p:nvSpPr>
        <p:spPr>
          <a:xfrm>
            <a:off x="0" y="0"/>
            <a:ext cx="12192000" cy="6858000"/>
          </a:xfrm>
          <a:prstGeom prst="rect">
            <a:avLst/>
          </a:prstGeom>
          <a:solidFill>
            <a:srgbClr val="FFFFFF"/>
          </a:solidFill>
          <a:ln w="0">
            <a:solidFill>
              <a:srgbClr val="FFFFFF"/>
            </a:solidFill>
            <a:prstDash val="solid"/>
          </a:ln>
        </p:spPr>
      </p:sp>
      <p:sp>
        <p:nvSpPr>
          <p:cNvPr id="2" name="top-band">
            <a:extLst>
              <a:ext uri="{FF2B5EF4-FFF2-40B4-BE49-F238E27FC236}">
                <a16:creationId xmlns:a16="http://schemas.microsoft.com/office/drawing/2014/main" id="{D55D6D63-289D-4A98-8768-324FF3A39BC9}"/>
              </a:ext>
            </a:extLst>
          </p:cNvPr>
          <p:cNvSpPr>
            <a:spLocks noGrp="1"/>
          </p:cNvSpPr>
          <p:nvPr/>
        </p:nvSpPr>
        <p:spPr>
          <a:xfrm>
            <a:off x="0" y="0"/>
            <a:ext cx="12192000" cy="171450"/>
          </a:xfrm>
          <a:prstGeom prst="rect">
            <a:avLst/>
          </a:prstGeom>
          <a:solidFill>
            <a:srgbClr val="17324D"/>
          </a:solidFill>
          <a:ln w="0">
            <a:solidFill>
              <a:srgbClr val="17324D"/>
            </a:solidFill>
            <a:prstDash val="solid"/>
          </a:ln>
        </p:spPr>
      </p:sp>
      <p:sp>
        <p:nvSpPr>
          <p:cNvPr id="3" name="kicker-marker">
            <a:extLst>
              <a:ext uri="{FF2B5EF4-FFF2-40B4-BE49-F238E27FC236}">
                <a16:creationId xmlns:a16="http://schemas.microsoft.com/office/drawing/2014/main" id="{560D10EC-D2E2-42E6-B614-C406C2C18278}"/>
              </a:ext>
            </a:extLst>
          </p:cNvPr>
          <p:cNvSpPr>
            <a:spLocks noGrp="1"/>
          </p:cNvSpPr>
          <p:nvPr/>
        </p:nvSpPr>
        <p:spPr>
          <a:xfrm>
            <a:off x="609600" y="533400"/>
            <a:ext cx="571500" cy="114300"/>
          </a:xfrm>
          <a:prstGeom prst="rect">
            <a:avLst/>
          </a:prstGeom>
          <a:solidFill>
            <a:srgbClr val="C88A2D"/>
          </a:solidFill>
          <a:ln w="0">
            <a:solidFill>
              <a:srgbClr val="C88A2D"/>
            </a:solidFill>
            <a:prstDash val="solid"/>
          </a:ln>
        </p:spPr>
      </p:sp>
      <p:sp>
        <p:nvSpPr>
          <p:cNvPr id="4" name="kicker-label">
            <a:extLst>
              <a:ext uri="{FF2B5EF4-FFF2-40B4-BE49-F238E27FC236}">
                <a16:creationId xmlns:a16="http://schemas.microsoft.com/office/drawing/2014/main" id="{99815771-6293-49F0-9AEB-978BCB84E9ED}"/>
              </a:ext>
            </a:extLst>
          </p:cNvPr>
          <p:cNvSpPr>
            <a:spLocks noGrp="1"/>
          </p:cNvSpPr>
          <p:nvPr/>
        </p:nvSpPr>
        <p:spPr>
          <a:xfrm>
            <a:off x="1295400" y="381000"/>
            <a:ext cx="2476500" cy="4191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1">
                <a:solidFill>
                  <a:srgbClr val="2E5B88"/>
                </a:solidFill>
                <a:latin typeface="Aptos"/>
                <a:ea typeface="Aptos"/>
                <a:cs typeface="Aptos"/>
              </a:defRPr>
            </a:pPr>
            <a:r>
              <a:rPr sz="1275" b="1">
                <a:solidFill>
                  <a:srgbClr val="2E5B88"/>
                </a:solidFill>
                <a:latin typeface="Aptos"/>
                <a:ea typeface="Aptos"/>
                <a:cs typeface="Aptos"/>
              </a:rPr>
              <a:t>HOW IT HELPS</a:t>
            </a:r>
          </a:p>
        </p:txBody>
      </p:sp>
      <p:sp>
        <p:nvSpPr>
          <p:cNvPr id="5" name="title">
            <a:extLst>
              <a:ext uri="{FF2B5EF4-FFF2-40B4-BE49-F238E27FC236}">
                <a16:creationId xmlns:a16="http://schemas.microsoft.com/office/drawing/2014/main" id="{AF252FC4-659D-43E9-B1CE-37E4CEF61358}"/>
              </a:ext>
            </a:extLst>
          </p:cNvPr>
          <p:cNvSpPr>
            <a:spLocks noGrp="1"/>
          </p:cNvSpPr>
          <p:nvPr/>
        </p:nvSpPr>
        <p:spPr>
          <a:xfrm>
            <a:off x="609600" y="933450"/>
            <a:ext cx="6096000" cy="11430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250" b="1">
                <a:solidFill>
                  <a:srgbClr val="102033"/>
                </a:solidFill>
                <a:latin typeface="Aptos Display"/>
                <a:ea typeface="Aptos Display"/>
                <a:cs typeface="Aptos Display"/>
              </a:defRPr>
            </a:pPr>
            <a:r>
              <a:rPr sz="2250" b="1">
                <a:solidFill>
                  <a:srgbClr val="102033"/>
                </a:solidFill>
                <a:latin typeface="Aptos Display"/>
                <a:ea typeface="Aptos Display"/>
                <a:cs typeface="Aptos Display"/>
              </a:rPr>
              <a:t>The project helps both in learning and in presenting ideas clearly.</a:t>
            </a:r>
          </a:p>
        </p:txBody>
      </p:sp>
      <p:sp>
        <p:nvSpPr>
          <p:cNvPr id="6" name="benefit-students">
            <a:extLst>
              <a:ext uri="{FF2B5EF4-FFF2-40B4-BE49-F238E27FC236}">
                <a16:creationId xmlns:a16="http://schemas.microsoft.com/office/drawing/2014/main" id="{A169153C-3031-459F-85E8-692B382243F7}"/>
              </a:ext>
            </a:extLst>
          </p:cNvPr>
          <p:cNvSpPr>
            <a:spLocks noGrp="1"/>
          </p:cNvSpPr>
          <p:nvPr/>
        </p:nvSpPr>
        <p:spPr>
          <a:xfrm>
            <a:off x="685800" y="2038350"/>
            <a:ext cx="5143500" cy="1352550"/>
          </a:xfrm>
          <a:prstGeom prst="rect">
            <a:avLst/>
          </a:prstGeom>
          <a:solidFill>
            <a:srgbClr val="F7F3EC"/>
          </a:solidFill>
          <a:ln w="9525">
            <a:solidFill>
              <a:srgbClr val="DCEAF7"/>
            </a:solidFill>
            <a:prstDash val="solid"/>
          </a:ln>
        </p:spPr>
      </p:sp>
      <p:sp>
        <p:nvSpPr>
          <p:cNvPr id="7" name="benefit-students-title">
            <a:extLst>
              <a:ext uri="{FF2B5EF4-FFF2-40B4-BE49-F238E27FC236}">
                <a16:creationId xmlns:a16="http://schemas.microsoft.com/office/drawing/2014/main" id="{3BCB221B-0772-48D9-AAA4-B9E50D53A77E}"/>
              </a:ext>
            </a:extLst>
          </p:cNvPr>
          <p:cNvSpPr>
            <a:spLocks noGrp="1"/>
          </p:cNvSpPr>
          <p:nvPr/>
        </p:nvSpPr>
        <p:spPr>
          <a:xfrm>
            <a:off x="876300" y="2209800"/>
            <a:ext cx="47625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00" b="1">
                <a:solidFill>
                  <a:srgbClr val="102033"/>
                </a:solidFill>
                <a:latin typeface="Aptos"/>
                <a:ea typeface="Aptos"/>
                <a:cs typeface="Aptos"/>
              </a:defRPr>
            </a:pPr>
            <a:r>
              <a:rPr sz="1500" b="1">
                <a:solidFill>
                  <a:srgbClr val="102033"/>
                </a:solidFill>
                <a:latin typeface="Aptos"/>
                <a:ea typeface="Aptos"/>
                <a:cs typeface="Aptos"/>
              </a:rPr>
              <a:t>For students</a:t>
            </a:r>
          </a:p>
        </p:txBody>
      </p:sp>
      <p:sp>
        <p:nvSpPr>
          <p:cNvPr id="8" name="benefit-students-body">
            <a:extLst>
              <a:ext uri="{FF2B5EF4-FFF2-40B4-BE49-F238E27FC236}">
                <a16:creationId xmlns:a16="http://schemas.microsoft.com/office/drawing/2014/main" id="{4C6D07D8-5FF4-48B3-A977-01B91E59DB78}"/>
              </a:ext>
            </a:extLst>
          </p:cNvPr>
          <p:cNvSpPr>
            <a:spLocks noGrp="1"/>
          </p:cNvSpPr>
          <p:nvPr/>
        </p:nvSpPr>
        <p:spPr>
          <a:xfrm>
            <a:off x="876300" y="2590800"/>
            <a:ext cx="4762500" cy="628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0">
                <a:solidFill>
                  <a:srgbClr val="243447"/>
                </a:solidFill>
                <a:latin typeface="Aptos"/>
                <a:ea typeface="Aptos"/>
                <a:cs typeface="Aptos"/>
              </a:defRPr>
            </a:pPr>
            <a:r>
              <a:rPr sz="1350" b="0">
                <a:solidFill>
                  <a:srgbClr val="243447"/>
                </a:solidFill>
                <a:latin typeface="Aptos"/>
                <a:ea typeface="Aptos"/>
                <a:cs typeface="Aptos"/>
              </a:rPr>
              <a:t>It makes system design more understandable and less intimidating. Students can learn by interacting with the diagram instead of only reading theory.</a:t>
            </a:r>
          </a:p>
        </p:txBody>
      </p:sp>
      <p:sp>
        <p:nvSpPr>
          <p:cNvPr id="9" name="benefit-presentation">
            <a:extLst>
              <a:ext uri="{FF2B5EF4-FFF2-40B4-BE49-F238E27FC236}">
                <a16:creationId xmlns:a16="http://schemas.microsoft.com/office/drawing/2014/main" id="{A30A2D27-EEC8-4904-81E8-E6A81748066A}"/>
              </a:ext>
            </a:extLst>
          </p:cNvPr>
          <p:cNvSpPr>
            <a:spLocks noGrp="1"/>
          </p:cNvSpPr>
          <p:nvPr/>
        </p:nvSpPr>
        <p:spPr>
          <a:xfrm>
            <a:off x="6362700" y="2038350"/>
            <a:ext cx="5143500" cy="1352550"/>
          </a:xfrm>
          <a:prstGeom prst="rect">
            <a:avLst/>
          </a:prstGeom>
          <a:solidFill>
            <a:srgbClr val="DCEAF7"/>
          </a:solidFill>
          <a:ln w="9525">
            <a:solidFill>
              <a:srgbClr val="DCEAF7"/>
            </a:solidFill>
            <a:prstDash val="solid"/>
          </a:ln>
        </p:spPr>
      </p:sp>
      <p:sp>
        <p:nvSpPr>
          <p:cNvPr id="10" name="benefit-presentation-title">
            <a:extLst>
              <a:ext uri="{FF2B5EF4-FFF2-40B4-BE49-F238E27FC236}">
                <a16:creationId xmlns:a16="http://schemas.microsoft.com/office/drawing/2014/main" id="{B58043B3-408A-4353-AD9D-8492719C1F35}"/>
              </a:ext>
            </a:extLst>
          </p:cNvPr>
          <p:cNvSpPr>
            <a:spLocks noGrp="1"/>
          </p:cNvSpPr>
          <p:nvPr/>
        </p:nvSpPr>
        <p:spPr>
          <a:xfrm>
            <a:off x="6553200" y="2209800"/>
            <a:ext cx="47625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00" b="1">
                <a:solidFill>
                  <a:srgbClr val="102033"/>
                </a:solidFill>
                <a:latin typeface="Aptos"/>
                <a:ea typeface="Aptos"/>
                <a:cs typeface="Aptos"/>
              </a:defRPr>
            </a:pPr>
            <a:r>
              <a:rPr sz="1500" b="1">
                <a:solidFill>
                  <a:srgbClr val="102033"/>
                </a:solidFill>
                <a:latin typeface="Aptos"/>
                <a:ea typeface="Aptos"/>
                <a:cs typeface="Aptos"/>
              </a:rPr>
              <a:t>For project explanation</a:t>
            </a:r>
          </a:p>
        </p:txBody>
      </p:sp>
      <p:sp>
        <p:nvSpPr>
          <p:cNvPr id="11" name="benefit-presentation-body">
            <a:extLst>
              <a:ext uri="{FF2B5EF4-FFF2-40B4-BE49-F238E27FC236}">
                <a16:creationId xmlns:a16="http://schemas.microsoft.com/office/drawing/2014/main" id="{83C81022-428F-4129-BACF-E8D8414871F1}"/>
              </a:ext>
            </a:extLst>
          </p:cNvPr>
          <p:cNvSpPr>
            <a:spLocks noGrp="1"/>
          </p:cNvSpPr>
          <p:nvPr/>
        </p:nvSpPr>
        <p:spPr>
          <a:xfrm>
            <a:off x="6553200" y="2590800"/>
            <a:ext cx="4762500" cy="628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0">
                <a:solidFill>
                  <a:srgbClr val="243447"/>
                </a:solidFill>
                <a:latin typeface="Aptos"/>
                <a:ea typeface="Aptos"/>
                <a:cs typeface="Aptos"/>
              </a:defRPr>
            </a:pPr>
            <a:r>
              <a:rPr sz="1350" b="0">
                <a:solidFill>
                  <a:srgbClr val="243447"/>
                </a:solidFill>
                <a:latin typeface="Aptos"/>
                <a:ea typeface="Aptos"/>
                <a:cs typeface="Aptos"/>
              </a:rPr>
              <a:t>It becomes easier to explain a project to a teacher, mentor, or teammate through a clear visual structure.</a:t>
            </a:r>
          </a:p>
        </p:txBody>
      </p:sp>
      <p:sp>
        <p:nvSpPr>
          <p:cNvPr id="12" name="benefit-planning">
            <a:extLst>
              <a:ext uri="{FF2B5EF4-FFF2-40B4-BE49-F238E27FC236}">
                <a16:creationId xmlns:a16="http://schemas.microsoft.com/office/drawing/2014/main" id="{BBF5570A-AB92-4FEA-996C-53B9EEED0E3F}"/>
              </a:ext>
            </a:extLst>
          </p:cNvPr>
          <p:cNvSpPr>
            <a:spLocks noGrp="1"/>
          </p:cNvSpPr>
          <p:nvPr/>
        </p:nvSpPr>
        <p:spPr>
          <a:xfrm>
            <a:off x="685800" y="3714750"/>
            <a:ext cx="5143500" cy="1352550"/>
          </a:xfrm>
          <a:prstGeom prst="rect">
            <a:avLst/>
          </a:prstGeom>
          <a:solidFill>
            <a:srgbClr val="DDEEE6"/>
          </a:solidFill>
          <a:ln w="9525">
            <a:solidFill>
              <a:srgbClr val="DDEEE6"/>
            </a:solidFill>
            <a:prstDash val="solid"/>
          </a:ln>
        </p:spPr>
      </p:sp>
      <p:sp>
        <p:nvSpPr>
          <p:cNvPr id="13" name="benefit-planning-title">
            <a:extLst>
              <a:ext uri="{FF2B5EF4-FFF2-40B4-BE49-F238E27FC236}">
                <a16:creationId xmlns:a16="http://schemas.microsoft.com/office/drawing/2014/main" id="{1B113E43-8364-40AE-A927-3727F95CFBA6}"/>
              </a:ext>
            </a:extLst>
          </p:cNvPr>
          <p:cNvSpPr>
            <a:spLocks noGrp="1"/>
          </p:cNvSpPr>
          <p:nvPr/>
        </p:nvSpPr>
        <p:spPr>
          <a:xfrm>
            <a:off x="876300" y="3886200"/>
            <a:ext cx="47625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00" b="1">
                <a:solidFill>
                  <a:srgbClr val="102033"/>
                </a:solidFill>
                <a:latin typeface="Aptos"/>
                <a:ea typeface="Aptos"/>
                <a:cs typeface="Aptos"/>
              </a:defRPr>
            </a:pPr>
            <a:r>
              <a:rPr sz="1500" b="1">
                <a:solidFill>
                  <a:srgbClr val="102033"/>
                </a:solidFill>
                <a:latin typeface="Aptos"/>
                <a:ea typeface="Aptos"/>
                <a:cs typeface="Aptos"/>
              </a:rPr>
              <a:t>For planning</a:t>
            </a:r>
          </a:p>
        </p:txBody>
      </p:sp>
      <p:sp>
        <p:nvSpPr>
          <p:cNvPr id="14" name="benefit-planning-body">
            <a:extLst>
              <a:ext uri="{FF2B5EF4-FFF2-40B4-BE49-F238E27FC236}">
                <a16:creationId xmlns:a16="http://schemas.microsoft.com/office/drawing/2014/main" id="{33A08239-53FE-4350-B509-C89381BA0104}"/>
              </a:ext>
            </a:extLst>
          </p:cNvPr>
          <p:cNvSpPr>
            <a:spLocks noGrp="1"/>
          </p:cNvSpPr>
          <p:nvPr/>
        </p:nvSpPr>
        <p:spPr>
          <a:xfrm>
            <a:off x="876300" y="4267200"/>
            <a:ext cx="4762500" cy="628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0">
                <a:solidFill>
                  <a:srgbClr val="243447"/>
                </a:solidFill>
                <a:latin typeface="Aptos"/>
                <a:ea typeface="Aptos"/>
                <a:cs typeface="Aptos"/>
              </a:defRPr>
            </a:pPr>
            <a:r>
              <a:rPr sz="1350" b="0">
                <a:solidFill>
                  <a:srgbClr val="243447"/>
                </a:solidFill>
                <a:latin typeface="Aptos"/>
                <a:ea typeface="Aptos"/>
                <a:cs typeface="Aptos"/>
              </a:rPr>
              <a:t>Users can think through components, relationships, and flow before building the final product.</a:t>
            </a:r>
          </a:p>
        </p:txBody>
      </p:sp>
      <p:sp>
        <p:nvSpPr>
          <p:cNvPr id="15" name="benefit-growth">
            <a:extLst>
              <a:ext uri="{FF2B5EF4-FFF2-40B4-BE49-F238E27FC236}">
                <a16:creationId xmlns:a16="http://schemas.microsoft.com/office/drawing/2014/main" id="{C074AC5B-F1B6-43EC-8041-EDB9062E5071}"/>
              </a:ext>
            </a:extLst>
          </p:cNvPr>
          <p:cNvSpPr>
            <a:spLocks noGrp="1"/>
          </p:cNvSpPr>
          <p:nvPr/>
        </p:nvSpPr>
        <p:spPr>
          <a:xfrm>
            <a:off x="6362700" y="3714750"/>
            <a:ext cx="5143500" cy="1352550"/>
          </a:xfrm>
          <a:prstGeom prst="rect">
            <a:avLst/>
          </a:prstGeom>
          <a:solidFill>
            <a:srgbClr val="F6E0D9"/>
          </a:solidFill>
          <a:ln w="9525">
            <a:solidFill>
              <a:srgbClr val="F6E0D9"/>
            </a:solidFill>
            <a:prstDash val="solid"/>
          </a:ln>
        </p:spPr>
      </p:sp>
      <p:sp>
        <p:nvSpPr>
          <p:cNvPr id="16" name="benefit-growth-title">
            <a:extLst>
              <a:ext uri="{FF2B5EF4-FFF2-40B4-BE49-F238E27FC236}">
                <a16:creationId xmlns:a16="http://schemas.microsoft.com/office/drawing/2014/main" id="{28BD3F55-0373-4D5C-B9D7-7A589A5E669C}"/>
              </a:ext>
            </a:extLst>
          </p:cNvPr>
          <p:cNvSpPr>
            <a:spLocks noGrp="1"/>
          </p:cNvSpPr>
          <p:nvPr/>
        </p:nvSpPr>
        <p:spPr>
          <a:xfrm>
            <a:off x="6553200" y="3886200"/>
            <a:ext cx="47625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00" b="1">
                <a:solidFill>
                  <a:srgbClr val="102033"/>
                </a:solidFill>
                <a:latin typeface="Aptos"/>
                <a:ea typeface="Aptos"/>
                <a:cs typeface="Aptos"/>
              </a:defRPr>
            </a:pPr>
            <a:r>
              <a:rPr sz="1500" b="1">
                <a:solidFill>
                  <a:srgbClr val="102033"/>
                </a:solidFill>
                <a:latin typeface="Aptos"/>
                <a:ea typeface="Aptos"/>
                <a:cs typeface="Aptos"/>
              </a:rPr>
              <a:t>For future growth</a:t>
            </a:r>
          </a:p>
        </p:txBody>
      </p:sp>
      <p:sp>
        <p:nvSpPr>
          <p:cNvPr id="17" name="benefit-growth-body">
            <a:extLst>
              <a:ext uri="{FF2B5EF4-FFF2-40B4-BE49-F238E27FC236}">
                <a16:creationId xmlns:a16="http://schemas.microsoft.com/office/drawing/2014/main" id="{1501FCAF-E77C-475F-9875-CE7CC0B39F8D}"/>
              </a:ext>
            </a:extLst>
          </p:cNvPr>
          <p:cNvSpPr>
            <a:spLocks noGrp="1"/>
          </p:cNvSpPr>
          <p:nvPr/>
        </p:nvSpPr>
        <p:spPr>
          <a:xfrm>
            <a:off x="6553200" y="4267200"/>
            <a:ext cx="4762500" cy="628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0">
                <a:solidFill>
                  <a:srgbClr val="243447"/>
                </a:solidFill>
                <a:latin typeface="Aptos"/>
                <a:ea typeface="Aptos"/>
                <a:cs typeface="Aptos"/>
              </a:defRPr>
            </a:pPr>
            <a:r>
              <a:rPr sz="1350" b="0">
                <a:solidFill>
                  <a:srgbClr val="243447"/>
                </a:solidFill>
                <a:latin typeface="Aptos"/>
                <a:ea typeface="Aptos"/>
                <a:cs typeface="Aptos"/>
              </a:rPr>
              <a:t>The same idea can later support more advanced diagrams, better collaboration, and smarter AI suggestions.</a:t>
            </a:r>
          </a:p>
        </p:txBody>
      </p:sp>
      <p:sp>
        <p:nvSpPr>
          <p:cNvPr id="18" name="footer">
            <a:extLst>
              <a:ext uri="{FF2B5EF4-FFF2-40B4-BE49-F238E27FC236}">
                <a16:creationId xmlns:a16="http://schemas.microsoft.com/office/drawing/2014/main" id="{83E248CA-BD8E-42C3-B319-EC408A9C800B}"/>
              </a:ext>
            </a:extLst>
          </p:cNvPr>
          <p:cNvSpPr>
            <a:spLocks noGrp="1"/>
          </p:cNvSpPr>
          <p:nvPr/>
        </p:nvSpPr>
        <p:spPr>
          <a:xfrm>
            <a:off x="609600" y="6515100"/>
            <a:ext cx="49530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0">
                <a:solidFill>
                  <a:srgbClr val="7A8793"/>
                </a:solidFill>
                <a:latin typeface="Aptos"/>
                <a:ea typeface="Aptos"/>
                <a:cs typeface="Aptos"/>
              </a:defRPr>
            </a:pPr>
            <a:r>
              <a:rPr sz="750" b="0">
                <a:solidFill>
                  <a:srgbClr val="7A8793"/>
                </a:solidFill>
                <a:latin typeface="Aptos"/>
                <a:ea typeface="Aptos"/>
                <a:cs typeface="Aptos"/>
              </a:rPr>
              <a:t>DiagramMaker AI</a:t>
            </a:r>
          </a:p>
        </p:txBody>
      </p:sp>
    </p:spTree>
    <p:extLst>
      <p:ext uri="{BB962C8B-B14F-4D97-AF65-F5344CB8AC3E}">
        <p14:creationId xmlns:p14="http://schemas.microsoft.com/office/powerpoint/2010/main" val="20825926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background">
            <a:extLst>
              <a:ext uri="{FF2B5EF4-FFF2-40B4-BE49-F238E27FC236}">
                <a16:creationId xmlns:a16="http://schemas.microsoft.com/office/drawing/2014/main" id="{225A34CD-37BA-455B-9B0E-23157A08B8D8}"/>
              </a:ext>
            </a:extLst>
          </p:cNvPr>
          <p:cNvSpPr>
            <a:spLocks noGrp="1"/>
          </p:cNvSpPr>
          <p:nvPr/>
        </p:nvSpPr>
        <p:spPr>
          <a:xfrm>
            <a:off x="0" y="0"/>
            <a:ext cx="12192000" cy="6858000"/>
          </a:xfrm>
          <a:prstGeom prst="rect">
            <a:avLst/>
          </a:prstGeom>
          <a:solidFill>
            <a:srgbClr val="F7F3EC"/>
          </a:solidFill>
          <a:ln w="0">
            <a:solidFill>
              <a:srgbClr val="F7F3EC"/>
            </a:solidFill>
            <a:prstDash val="solid"/>
          </a:ln>
        </p:spPr>
      </p:sp>
      <p:sp>
        <p:nvSpPr>
          <p:cNvPr id="2" name="top-band">
            <a:extLst>
              <a:ext uri="{FF2B5EF4-FFF2-40B4-BE49-F238E27FC236}">
                <a16:creationId xmlns:a16="http://schemas.microsoft.com/office/drawing/2014/main" id="{8E5731DC-472F-4842-A14D-D6A33D04CEC7}"/>
              </a:ext>
            </a:extLst>
          </p:cNvPr>
          <p:cNvSpPr>
            <a:spLocks noGrp="1"/>
          </p:cNvSpPr>
          <p:nvPr/>
        </p:nvSpPr>
        <p:spPr>
          <a:xfrm>
            <a:off x="0" y="0"/>
            <a:ext cx="12192000" cy="171450"/>
          </a:xfrm>
          <a:prstGeom prst="rect">
            <a:avLst/>
          </a:prstGeom>
          <a:solidFill>
            <a:srgbClr val="17324D"/>
          </a:solidFill>
          <a:ln w="0">
            <a:solidFill>
              <a:srgbClr val="17324D"/>
            </a:solidFill>
            <a:prstDash val="solid"/>
          </a:ln>
        </p:spPr>
      </p:sp>
      <p:sp>
        <p:nvSpPr>
          <p:cNvPr id="3" name="kicker-marker">
            <a:extLst>
              <a:ext uri="{FF2B5EF4-FFF2-40B4-BE49-F238E27FC236}">
                <a16:creationId xmlns:a16="http://schemas.microsoft.com/office/drawing/2014/main" id="{435401B9-A478-4861-B476-D16EA5A0716D}"/>
              </a:ext>
            </a:extLst>
          </p:cNvPr>
          <p:cNvSpPr>
            <a:spLocks noGrp="1"/>
          </p:cNvSpPr>
          <p:nvPr/>
        </p:nvSpPr>
        <p:spPr>
          <a:xfrm>
            <a:off x="609600" y="533400"/>
            <a:ext cx="571500" cy="114300"/>
          </a:xfrm>
          <a:prstGeom prst="rect">
            <a:avLst/>
          </a:prstGeom>
          <a:solidFill>
            <a:srgbClr val="C88A2D"/>
          </a:solidFill>
          <a:ln w="0">
            <a:solidFill>
              <a:srgbClr val="C88A2D"/>
            </a:solidFill>
            <a:prstDash val="solid"/>
          </a:ln>
        </p:spPr>
      </p:sp>
      <p:sp>
        <p:nvSpPr>
          <p:cNvPr id="4" name="kicker-label">
            <a:extLst>
              <a:ext uri="{FF2B5EF4-FFF2-40B4-BE49-F238E27FC236}">
                <a16:creationId xmlns:a16="http://schemas.microsoft.com/office/drawing/2014/main" id="{2F6F56E0-233A-4B84-8268-E3FC39FFBBCD}"/>
              </a:ext>
            </a:extLst>
          </p:cNvPr>
          <p:cNvSpPr>
            <a:spLocks noGrp="1"/>
          </p:cNvSpPr>
          <p:nvPr/>
        </p:nvSpPr>
        <p:spPr>
          <a:xfrm>
            <a:off x="1295400" y="381000"/>
            <a:ext cx="2476500" cy="4191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1">
                <a:solidFill>
                  <a:srgbClr val="2E5B88"/>
                </a:solidFill>
                <a:latin typeface="Aptos"/>
                <a:ea typeface="Aptos"/>
                <a:cs typeface="Aptos"/>
              </a:defRPr>
            </a:pPr>
            <a:r>
              <a:rPr sz="1275" b="1">
                <a:solidFill>
                  <a:srgbClr val="2E5B88"/>
                </a:solidFill>
                <a:latin typeface="Aptos"/>
                <a:ea typeface="Aptos"/>
                <a:cs typeface="Aptos"/>
              </a:rPr>
              <a:t>FUTURE SCOPE</a:t>
            </a:r>
          </a:p>
        </p:txBody>
      </p:sp>
      <p:sp>
        <p:nvSpPr>
          <p:cNvPr id="5" name="title">
            <a:extLst>
              <a:ext uri="{FF2B5EF4-FFF2-40B4-BE49-F238E27FC236}">
                <a16:creationId xmlns:a16="http://schemas.microsoft.com/office/drawing/2014/main" id="{3242381C-6414-4C52-AE25-1BC43B72A998}"/>
              </a:ext>
            </a:extLst>
          </p:cNvPr>
          <p:cNvSpPr>
            <a:spLocks noGrp="1"/>
          </p:cNvSpPr>
          <p:nvPr/>
        </p:nvSpPr>
        <p:spPr>
          <a:xfrm>
            <a:off x="609600" y="933450"/>
            <a:ext cx="6096000" cy="11430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250" b="1">
                <a:solidFill>
                  <a:srgbClr val="102033"/>
                </a:solidFill>
                <a:latin typeface="Aptos Display"/>
                <a:ea typeface="Aptos Display"/>
                <a:cs typeface="Aptos Display"/>
              </a:defRPr>
            </a:pPr>
            <a:r>
              <a:rPr sz="2250" b="1">
                <a:solidFill>
                  <a:srgbClr val="102033"/>
                </a:solidFill>
                <a:latin typeface="Aptos Display"/>
                <a:ea typeface="Aptos Display"/>
                <a:cs typeface="Aptos Display"/>
              </a:rPr>
              <a:t>This foundation can grow into a smarter design assistant over time.</a:t>
            </a:r>
          </a:p>
        </p:txBody>
      </p:sp>
      <p:sp>
        <p:nvSpPr>
          <p:cNvPr id="6" name="future-1">
            <a:extLst>
              <a:ext uri="{FF2B5EF4-FFF2-40B4-BE49-F238E27FC236}">
                <a16:creationId xmlns:a16="http://schemas.microsoft.com/office/drawing/2014/main" id="{E6F37F06-2F66-41AC-9E65-3FB076C3E368}"/>
              </a:ext>
            </a:extLst>
          </p:cNvPr>
          <p:cNvSpPr>
            <a:spLocks noGrp="1"/>
          </p:cNvSpPr>
          <p:nvPr/>
        </p:nvSpPr>
        <p:spPr>
          <a:xfrm>
            <a:off x="914400" y="2171700"/>
            <a:ext cx="2286000" cy="2152650"/>
          </a:xfrm>
          <a:prstGeom prst="rect">
            <a:avLst/>
          </a:prstGeom>
          <a:solidFill>
            <a:srgbClr val="FFFFFF"/>
          </a:solidFill>
          <a:ln w="9525">
            <a:solidFill>
              <a:srgbClr val="DCEAF7"/>
            </a:solidFill>
            <a:prstDash val="solid"/>
          </a:ln>
        </p:spPr>
      </p:sp>
      <p:sp>
        <p:nvSpPr>
          <p:cNvPr id="7" name="future-1-title">
            <a:extLst>
              <a:ext uri="{FF2B5EF4-FFF2-40B4-BE49-F238E27FC236}">
                <a16:creationId xmlns:a16="http://schemas.microsoft.com/office/drawing/2014/main" id="{54B62E4B-1071-4089-96A9-6DD49FEEA933}"/>
              </a:ext>
            </a:extLst>
          </p:cNvPr>
          <p:cNvSpPr>
            <a:spLocks noGrp="1"/>
          </p:cNvSpPr>
          <p:nvPr/>
        </p:nvSpPr>
        <p:spPr>
          <a:xfrm>
            <a:off x="1104900" y="2343150"/>
            <a:ext cx="19050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00" b="1">
                <a:solidFill>
                  <a:srgbClr val="102033"/>
                </a:solidFill>
                <a:latin typeface="Aptos"/>
                <a:ea typeface="Aptos"/>
                <a:cs typeface="Aptos"/>
              </a:defRPr>
            </a:pPr>
            <a:r>
              <a:rPr sz="1500" b="1">
                <a:solidFill>
                  <a:srgbClr val="102033"/>
                </a:solidFill>
                <a:latin typeface="Aptos"/>
                <a:ea typeface="Aptos"/>
                <a:cs typeface="Aptos"/>
              </a:rPr>
              <a:t>More diagram types</a:t>
            </a:r>
          </a:p>
        </p:txBody>
      </p:sp>
      <p:sp>
        <p:nvSpPr>
          <p:cNvPr id="8" name="future-1-body">
            <a:extLst>
              <a:ext uri="{FF2B5EF4-FFF2-40B4-BE49-F238E27FC236}">
                <a16:creationId xmlns:a16="http://schemas.microsoft.com/office/drawing/2014/main" id="{FBF36AF5-D658-4F48-9EDB-1EBFF52811BF}"/>
              </a:ext>
            </a:extLst>
          </p:cNvPr>
          <p:cNvSpPr>
            <a:spLocks noGrp="1"/>
          </p:cNvSpPr>
          <p:nvPr/>
        </p:nvSpPr>
        <p:spPr>
          <a:xfrm>
            <a:off x="1104900" y="2724150"/>
            <a:ext cx="1905000" cy="1428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0">
                <a:solidFill>
                  <a:srgbClr val="243447"/>
                </a:solidFill>
                <a:latin typeface="Aptos"/>
                <a:ea typeface="Aptos"/>
                <a:cs typeface="Aptos"/>
              </a:defRPr>
            </a:pPr>
            <a:r>
              <a:rPr sz="1350" b="0">
                <a:solidFill>
                  <a:srgbClr val="243447"/>
                </a:solidFill>
                <a:latin typeface="Aptos"/>
                <a:ea typeface="Aptos"/>
                <a:cs typeface="Aptos"/>
              </a:rPr>
              <a:t>Support for flowcharts, HLDs, LLDs, service maps, and other structured views.</a:t>
            </a:r>
          </a:p>
        </p:txBody>
      </p:sp>
      <p:sp>
        <p:nvSpPr>
          <p:cNvPr id="9" name="future-2">
            <a:extLst>
              <a:ext uri="{FF2B5EF4-FFF2-40B4-BE49-F238E27FC236}">
                <a16:creationId xmlns:a16="http://schemas.microsoft.com/office/drawing/2014/main" id="{A01A550F-5CC0-4D2B-99F6-F4C126A3699D}"/>
              </a:ext>
            </a:extLst>
          </p:cNvPr>
          <p:cNvSpPr>
            <a:spLocks noGrp="1"/>
          </p:cNvSpPr>
          <p:nvPr/>
        </p:nvSpPr>
        <p:spPr>
          <a:xfrm>
            <a:off x="3562350" y="2171700"/>
            <a:ext cx="2286000" cy="2152650"/>
          </a:xfrm>
          <a:prstGeom prst="rect">
            <a:avLst/>
          </a:prstGeom>
          <a:solidFill>
            <a:srgbClr val="FFFFFF"/>
          </a:solidFill>
          <a:ln w="9525">
            <a:solidFill>
              <a:srgbClr val="DCEAF7"/>
            </a:solidFill>
            <a:prstDash val="solid"/>
          </a:ln>
        </p:spPr>
      </p:sp>
      <p:sp>
        <p:nvSpPr>
          <p:cNvPr id="10" name="future-2-title">
            <a:extLst>
              <a:ext uri="{FF2B5EF4-FFF2-40B4-BE49-F238E27FC236}">
                <a16:creationId xmlns:a16="http://schemas.microsoft.com/office/drawing/2014/main" id="{17EF2124-F712-4C97-83A8-6AA2D8C99D3A}"/>
              </a:ext>
            </a:extLst>
          </p:cNvPr>
          <p:cNvSpPr>
            <a:spLocks noGrp="1"/>
          </p:cNvSpPr>
          <p:nvPr/>
        </p:nvSpPr>
        <p:spPr>
          <a:xfrm>
            <a:off x="3752850" y="2343150"/>
            <a:ext cx="19050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00" b="1">
                <a:solidFill>
                  <a:srgbClr val="102033"/>
                </a:solidFill>
                <a:latin typeface="Aptos"/>
                <a:ea typeface="Aptos"/>
                <a:cs typeface="Aptos"/>
              </a:defRPr>
            </a:pPr>
            <a:r>
              <a:rPr sz="1500" b="1">
                <a:solidFill>
                  <a:srgbClr val="102033"/>
                </a:solidFill>
                <a:latin typeface="Aptos"/>
                <a:ea typeface="Aptos"/>
                <a:cs typeface="Aptos"/>
              </a:rPr>
              <a:t>Smarter AI actions</a:t>
            </a:r>
          </a:p>
        </p:txBody>
      </p:sp>
      <p:sp>
        <p:nvSpPr>
          <p:cNvPr id="11" name="future-2-body">
            <a:extLst>
              <a:ext uri="{FF2B5EF4-FFF2-40B4-BE49-F238E27FC236}">
                <a16:creationId xmlns:a16="http://schemas.microsoft.com/office/drawing/2014/main" id="{535AD351-F13D-46BB-967A-787CE1E36024}"/>
              </a:ext>
            </a:extLst>
          </p:cNvPr>
          <p:cNvSpPr>
            <a:spLocks noGrp="1"/>
          </p:cNvSpPr>
          <p:nvPr/>
        </p:nvSpPr>
        <p:spPr>
          <a:xfrm>
            <a:off x="3752850" y="2724150"/>
            <a:ext cx="1905000" cy="1428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0">
                <a:solidFill>
                  <a:srgbClr val="243447"/>
                </a:solidFill>
                <a:latin typeface="Aptos"/>
                <a:ea typeface="Aptos"/>
                <a:cs typeface="Aptos"/>
              </a:defRPr>
            </a:pPr>
            <a:r>
              <a:rPr sz="1350" b="0">
                <a:solidFill>
                  <a:srgbClr val="243447"/>
                </a:solidFill>
                <a:latin typeface="Aptos"/>
                <a:ea typeface="Aptos"/>
                <a:cs typeface="Aptos"/>
              </a:rPr>
              <a:t>Future versions can suggest diagram changes directly instead of only giving text guidance.</a:t>
            </a:r>
          </a:p>
        </p:txBody>
      </p:sp>
      <p:sp>
        <p:nvSpPr>
          <p:cNvPr id="12" name="future-3">
            <a:extLst>
              <a:ext uri="{FF2B5EF4-FFF2-40B4-BE49-F238E27FC236}">
                <a16:creationId xmlns:a16="http://schemas.microsoft.com/office/drawing/2014/main" id="{AB0D077D-4CA1-4671-A0A4-3F38F8C8D084}"/>
              </a:ext>
            </a:extLst>
          </p:cNvPr>
          <p:cNvSpPr>
            <a:spLocks noGrp="1"/>
          </p:cNvSpPr>
          <p:nvPr/>
        </p:nvSpPr>
        <p:spPr>
          <a:xfrm>
            <a:off x="6210300" y="2171700"/>
            <a:ext cx="2286000" cy="2152650"/>
          </a:xfrm>
          <a:prstGeom prst="rect">
            <a:avLst/>
          </a:prstGeom>
          <a:solidFill>
            <a:srgbClr val="FFFFFF"/>
          </a:solidFill>
          <a:ln w="9525">
            <a:solidFill>
              <a:srgbClr val="DCEAF7"/>
            </a:solidFill>
            <a:prstDash val="solid"/>
          </a:ln>
        </p:spPr>
      </p:sp>
      <p:sp>
        <p:nvSpPr>
          <p:cNvPr id="13" name="future-3-title">
            <a:extLst>
              <a:ext uri="{FF2B5EF4-FFF2-40B4-BE49-F238E27FC236}">
                <a16:creationId xmlns:a16="http://schemas.microsoft.com/office/drawing/2014/main" id="{91148EBA-C239-47ED-8BEB-8484C82A72E1}"/>
              </a:ext>
            </a:extLst>
          </p:cNvPr>
          <p:cNvSpPr>
            <a:spLocks noGrp="1"/>
          </p:cNvSpPr>
          <p:nvPr/>
        </p:nvSpPr>
        <p:spPr>
          <a:xfrm>
            <a:off x="6400800" y="2343150"/>
            <a:ext cx="19050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00" b="1">
                <a:solidFill>
                  <a:srgbClr val="102033"/>
                </a:solidFill>
                <a:latin typeface="Aptos"/>
                <a:ea typeface="Aptos"/>
                <a:cs typeface="Aptos"/>
              </a:defRPr>
            </a:pPr>
            <a:r>
              <a:rPr sz="1500" b="1">
                <a:solidFill>
                  <a:srgbClr val="102033"/>
                </a:solidFill>
                <a:latin typeface="Aptos"/>
                <a:ea typeface="Aptos"/>
                <a:cs typeface="Aptos"/>
              </a:rPr>
              <a:t>Better storage</a:t>
            </a:r>
          </a:p>
        </p:txBody>
      </p:sp>
      <p:sp>
        <p:nvSpPr>
          <p:cNvPr id="14" name="future-3-body">
            <a:extLst>
              <a:ext uri="{FF2B5EF4-FFF2-40B4-BE49-F238E27FC236}">
                <a16:creationId xmlns:a16="http://schemas.microsoft.com/office/drawing/2014/main" id="{960F9243-E81E-449E-A619-D8F3AE418EFA}"/>
              </a:ext>
            </a:extLst>
          </p:cNvPr>
          <p:cNvSpPr>
            <a:spLocks noGrp="1"/>
          </p:cNvSpPr>
          <p:nvPr/>
        </p:nvSpPr>
        <p:spPr>
          <a:xfrm>
            <a:off x="6400800" y="2724150"/>
            <a:ext cx="1905000" cy="1428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0">
                <a:solidFill>
                  <a:srgbClr val="243447"/>
                </a:solidFill>
                <a:latin typeface="Aptos"/>
                <a:ea typeface="Aptos"/>
                <a:cs typeface="Aptos"/>
              </a:defRPr>
            </a:pPr>
            <a:r>
              <a:rPr sz="1350" b="0">
                <a:solidFill>
                  <a:srgbClr val="243447"/>
                </a:solidFill>
                <a:latin typeface="Aptos"/>
                <a:ea typeface="Aptos"/>
                <a:cs typeface="Aptos"/>
              </a:rPr>
              <a:t>The project can move from a single file to a stronger project database with version history.</a:t>
            </a:r>
          </a:p>
        </p:txBody>
      </p:sp>
      <p:sp>
        <p:nvSpPr>
          <p:cNvPr id="15" name="future-4">
            <a:extLst>
              <a:ext uri="{FF2B5EF4-FFF2-40B4-BE49-F238E27FC236}">
                <a16:creationId xmlns:a16="http://schemas.microsoft.com/office/drawing/2014/main" id="{6E9F8DF8-1D58-4868-B0AF-CC7DE54B8073}"/>
              </a:ext>
            </a:extLst>
          </p:cNvPr>
          <p:cNvSpPr>
            <a:spLocks noGrp="1"/>
          </p:cNvSpPr>
          <p:nvPr/>
        </p:nvSpPr>
        <p:spPr>
          <a:xfrm>
            <a:off x="8858250" y="2171700"/>
            <a:ext cx="2286000" cy="2152650"/>
          </a:xfrm>
          <a:prstGeom prst="rect">
            <a:avLst/>
          </a:prstGeom>
          <a:solidFill>
            <a:srgbClr val="FFFFFF"/>
          </a:solidFill>
          <a:ln w="9525">
            <a:solidFill>
              <a:srgbClr val="DCEAF7"/>
            </a:solidFill>
            <a:prstDash val="solid"/>
          </a:ln>
        </p:spPr>
      </p:sp>
      <p:sp>
        <p:nvSpPr>
          <p:cNvPr id="16" name="future-4-title">
            <a:extLst>
              <a:ext uri="{FF2B5EF4-FFF2-40B4-BE49-F238E27FC236}">
                <a16:creationId xmlns:a16="http://schemas.microsoft.com/office/drawing/2014/main" id="{B599CFB4-2A99-4AC4-A7E1-918F622654CF}"/>
              </a:ext>
            </a:extLst>
          </p:cNvPr>
          <p:cNvSpPr>
            <a:spLocks noGrp="1"/>
          </p:cNvSpPr>
          <p:nvPr/>
        </p:nvSpPr>
        <p:spPr>
          <a:xfrm>
            <a:off x="9048750" y="2343150"/>
            <a:ext cx="19050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00" b="1">
                <a:solidFill>
                  <a:srgbClr val="102033"/>
                </a:solidFill>
                <a:latin typeface="Aptos"/>
                <a:ea typeface="Aptos"/>
                <a:cs typeface="Aptos"/>
              </a:defRPr>
            </a:pPr>
            <a:r>
              <a:rPr sz="1500" b="1">
                <a:solidFill>
                  <a:srgbClr val="102033"/>
                </a:solidFill>
                <a:latin typeface="Aptos"/>
                <a:ea typeface="Aptos"/>
                <a:cs typeface="Aptos"/>
              </a:rPr>
              <a:t>Team collaboration</a:t>
            </a:r>
          </a:p>
        </p:txBody>
      </p:sp>
      <p:sp>
        <p:nvSpPr>
          <p:cNvPr id="17" name="future-4-body">
            <a:extLst>
              <a:ext uri="{FF2B5EF4-FFF2-40B4-BE49-F238E27FC236}">
                <a16:creationId xmlns:a16="http://schemas.microsoft.com/office/drawing/2014/main" id="{9606B0FC-57FA-4B0D-8575-093F08536356}"/>
              </a:ext>
            </a:extLst>
          </p:cNvPr>
          <p:cNvSpPr>
            <a:spLocks noGrp="1"/>
          </p:cNvSpPr>
          <p:nvPr/>
        </p:nvSpPr>
        <p:spPr>
          <a:xfrm>
            <a:off x="9048750" y="2724150"/>
            <a:ext cx="1905000" cy="1428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0">
                <a:solidFill>
                  <a:srgbClr val="243447"/>
                </a:solidFill>
                <a:latin typeface="Aptos"/>
                <a:ea typeface="Aptos"/>
                <a:cs typeface="Aptos"/>
              </a:defRPr>
            </a:pPr>
            <a:r>
              <a:rPr sz="1350" b="0">
                <a:solidFill>
                  <a:srgbClr val="243447"/>
                </a:solidFill>
                <a:latin typeface="Aptos"/>
                <a:ea typeface="Aptos"/>
                <a:cs typeface="Aptos"/>
              </a:rPr>
              <a:t>Multiple users could review, edit, and improve architecture ideas together.</a:t>
            </a:r>
          </a:p>
        </p:txBody>
      </p:sp>
      <p:sp>
        <p:nvSpPr>
          <p:cNvPr id="18" name="future-summary">
            <a:extLst>
              <a:ext uri="{FF2B5EF4-FFF2-40B4-BE49-F238E27FC236}">
                <a16:creationId xmlns:a16="http://schemas.microsoft.com/office/drawing/2014/main" id="{40995A52-25AF-4422-92B0-438510710940}"/>
              </a:ext>
            </a:extLst>
          </p:cNvPr>
          <p:cNvSpPr>
            <a:spLocks noGrp="1"/>
          </p:cNvSpPr>
          <p:nvPr/>
        </p:nvSpPr>
        <p:spPr>
          <a:xfrm>
            <a:off x="1257300" y="5048250"/>
            <a:ext cx="96774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800" b="1">
                <a:solidFill>
                  <a:srgbClr val="17324D"/>
                </a:solidFill>
                <a:latin typeface="Aptos Display"/>
                <a:ea typeface="Aptos Display"/>
                <a:cs typeface="Aptos Display"/>
              </a:defRPr>
            </a:pPr>
            <a:r>
              <a:rPr sz="1800" b="1">
                <a:solidFill>
                  <a:srgbClr val="17324D"/>
                </a:solidFill>
                <a:latin typeface="Aptos Display"/>
                <a:ea typeface="Aptos Display"/>
                <a:cs typeface="Aptos Display"/>
              </a:rPr>
              <a:t>So this project is not only a current prototype. It is also a starting point for a larger AI-assisted design platform.</a:t>
            </a:r>
          </a:p>
        </p:txBody>
      </p:sp>
      <p:sp>
        <p:nvSpPr>
          <p:cNvPr id="19" name="footer">
            <a:extLst>
              <a:ext uri="{FF2B5EF4-FFF2-40B4-BE49-F238E27FC236}">
                <a16:creationId xmlns:a16="http://schemas.microsoft.com/office/drawing/2014/main" id="{B546CDB9-E2BC-4B6B-AB91-1191CCD1C729}"/>
              </a:ext>
            </a:extLst>
          </p:cNvPr>
          <p:cNvSpPr>
            <a:spLocks noGrp="1"/>
          </p:cNvSpPr>
          <p:nvPr/>
        </p:nvSpPr>
        <p:spPr>
          <a:xfrm>
            <a:off x="609600" y="6515100"/>
            <a:ext cx="49530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0">
                <a:solidFill>
                  <a:srgbClr val="7A8793"/>
                </a:solidFill>
                <a:latin typeface="Aptos"/>
                <a:ea typeface="Aptos"/>
                <a:cs typeface="Aptos"/>
              </a:defRPr>
            </a:pPr>
            <a:r>
              <a:rPr sz="750" b="0">
                <a:solidFill>
                  <a:srgbClr val="7A8793"/>
                </a:solidFill>
                <a:latin typeface="Aptos"/>
                <a:ea typeface="Aptos"/>
                <a:cs typeface="Aptos"/>
              </a:rPr>
              <a:t>DiagramMaker AI</a:t>
            </a:r>
          </a:p>
        </p:txBody>
      </p:sp>
    </p:spTree>
    <p:extLst>
      <p:ext uri="{BB962C8B-B14F-4D97-AF65-F5344CB8AC3E}">
        <p14:creationId xmlns:p14="http://schemas.microsoft.com/office/powerpoint/2010/main" val="4052194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background">
            <a:extLst>
              <a:ext uri="{FF2B5EF4-FFF2-40B4-BE49-F238E27FC236}">
                <a16:creationId xmlns:a16="http://schemas.microsoft.com/office/drawing/2014/main" id="{F636C327-CBF8-48AA-B617-4D2C9571247F}"/>
              </a:ext>
            </a:extLst>
          </p:cNvPr>
          <p:cNvSpPr>
            <a:spLocks noGrp="1"/>
          </p:cNvSpPr>
          <p:nvPr/>
        </p:nvSpPr>
        <p:spPr>
          <a:xfrm>
            <a:off x="0" y="0"/>
            <a:ext cx="12192000" cy="6858000"/>
          </a:xfrm>
          <a:prstGeom prst="rect">
            <a:avLst/>
          </a:prstGeom>
          <a:solidFill>
            <a:srgbClr val="17324D"/>
          </a:solidFill>
          <a:ln w="0">
            <a:solidFill>
              <a:srgbClr val="17324D"/>
            </a:solidFill>
            <a:prstDash val="solid"/>
          </a:ln>
        </p:spPr>
      </p:sp>
      <p:sp>
        <p:nvSpPr>
          <p:cNvPr id="2" name="top-band">
            <a:extLst>
              <a:ext uri="{FF2B5EF4-FFF2-40B4-BE49-F238E27FC236}">
                <a16:creationId xmlns:a16="http://schemas.microsoft.com/office/drawing/2014/main" id="{7BDC36F4-8266-4870-9FE5-A9ED25E9D3CA}"/>
              </a:ext>
            </a:extLst>
          </p:cNvPr>
          <p:cNvSpPr>
            <a:spLocks noGrp="1"/>
          </p:cNvSpPr>
          <p:nvPr/>
        </p:nvSpPr>
        <p:spPr>
          <a:xfrm>
            <a:off x="0" y="0"/>
            <a:ext cx="12192000" cy="171450"/>
          </a:xfrm>
          <a:prstGeom prst="rect">
            <a:avLst/>
          </a:prstGeom>
          <a:solidFill>
            <a:srgbClr val="C88A2D"/>
          </a:solidFill>
          <a:ln w="0">
            <a:solidFill>
              <a:srgbClr val="C88A2D"/>
            </a:solidFill>
            <a:prstDash val="solid"/>
          </a:ln>
        </p:spPr>
      </p:sp>
      <p:sp>
        <p:nvSpPr>
          <p:cNvPr id="3" name="closing-kicker">
            <a:extLst>
              <a:ext uri="{FF2B5EF4-FFF2-40B4-BE49-F238E27FC236}">
                <a16:creationId xmlns:a16="http://schemas.microsoft.com/office/drawing/2014/main" id="{50DF59C9-40DC-4872-880E-E2179C6EDE9E}"/>
              </a:ext>
            </a:extLst>
          </p:cNvPr>
          <p:cNvSpPr>
            <a:spLocks noGrp="1"/>
          </p:cNvSpPr>
          <p:nvPr/>
        </p:nvSpPr>
        <p:spPr>
          <a:xfrm>
            <a:off x="609600" y="1047750"/>
            <a:ext cx="238125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1">
                <a:solidFill>
                  <a:srgbClr val="C88A2D"/>
                </a:solidFill>
                <a:latin typeface="Aptos"/>
                <a:ea typeface="Aptos"/>
                <a:cs typeface="Aptos"/>
              </a:defRPr>
            </a:pPr>
            <a:r>
              <a:rPr sz="1200" b="1">
                <a:solidFill>
                  <a:srgbClr val="C88A2D"/>
                </a:solidFill>
                <a:latin typeface="Aptos"/>
                <a:ea typeface="Aptos"/>
                <a:cs typeface="Aptos"/>
              </a:rPr>
              <a:t>CONCLUSION</a:t>
            </a:r>
          </a:p>
        </p:txBody>
      </p:sp>
      <p:sp>
        <p:nvSpPr>
          <p:cNvPr id="4" name="title">
            <a:extLst>
              <a:ext uri="{FF2B5EF4-FFF2-40B4-BE49-F238E27FC236}">
                <a16:creationId xmlns:a16="http://schemas.microsoft.com/office/drawing/2014/main" id="{7DE5A20F-9936-4EA1-B0B8-395B1260D2EF}"/>
              </a:ext>
            </a:extLst>
          </p:cNvPr>
          <p:cNvSpPr>
            <a:spLocks noGrp="1"/>
          </p:cNvSpPr>
          <p:nvPr/>
        </p:nvSpPr>
        <p:spPr>
          <a:xfrm>
            <a:off x="609600" y="1562100"/>
            <a:ext cx="8286750" cy="11430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700" b="1">
                <a:solidFill>
                  <a:srgbClr val="FFFFFF"/>
                </a:solidFill>
                <a:latin typeface="Aptos Display"/>
                <a:ea typeface="Aptos Display"/>
                <a:cs typeface="Aptos Display"/>
              </a:defRPr>
            </a:pPr>
            <a:r>
              <a:rPr sz="2700" b="1">
                <a:solidFill>
                  <a:srgbClr val="FFFFFF"/>
                </a:solidFill>
                <a:latin typeface="Aptos Display"/>
                <a:ea typeface="Aptos Display"/>
                <a:cs typeface="Aptos Display"/>
              </a:rPr>
              <a:t>DiagramMaker AI turns project ideas into clearer visual understanding.</a:t>
            </a:r>
          </a:p>
        </p:txBody>
      </p:sp>
      <p:sp>
        <p:nvSpPr>
          <p:cNvPr id="5" name="body">
            <a:extLst>
              <a:ext uri="{FF2B5EF4-FFF2-40B4-BE49-F238E27FC236}">
                <a16:creationId xmlns:a16="http://schemas.microsoft.com/office/drawing/2014/main" id="{EE4B0231-EAB1-4316-8B78-F8DD4F6FA334}"/>
              </a:ext>
            </a:extLst>
          </p:cNvPr>
          <p:cNvSpPr>
            <a:spLocks noGrp="1"/>
          </p:cNvSpPr>
          <p:nvPr/>
        </p:nvSpPr>
        <p:spPr>
          <a:xfrm>
            <a:off x="609600" y="2781300"/>
            <a:ext cx="8191500" cy="15240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725" b="0">
                <a:solidFill>
                  <a:srgbClr val="FFFFFF"/>
                </a:solidFill>
                <a:latin typeface="Aptos"/>
                <a:ea typeface="Aptos"/>
                <a:cs typeface="Aptos"/>
              </a:defRPr>
            </a:pPr>
            <a:r>
              <a:rPr sz="1725" b="0">
                <a:solidFill>
                  <a:srgbClr val="FFFFFF"/>
                </a:solidFill>
                <a:latin typeface="Aptos"/>
                <a:ea typeface="Aptos"/>
                <a:cs typeface="Aptos"/>
              </a:rPr>
              <a:t>It addresses a real problem: many users struggle to explain or organize system ideas visually. By combining guided discussion, diagram editing, and structured saving, the project makes design work easier to learn and easier to present.</a:t>
            </a:r>
          </a:p>
        </p:txBody>
      </p:sp>
      <p:sp>
        <p:nvSpPr>
          <p:cNvPr id="6" name="closing-square">
            <a:extLst>
              <a:ext uri="{FF2B5EF4-FFF2-40B4-BE49-F238E27FC236}">
                <a16:creationId xmlns:a16="http://schemas.microsoft.com/office/drawing/2014/main" id="{5CAA671B-1C1F-4756-B3DA-08DDAD2D0FF4}"/>
              </a:ext>
            </a:extLst>
          </p:cNvPr>
          <p:cNvSpPr>
            <a:spLocks noGrp="1"/>
          </p:cNvSpPr>
          <p:nvPr/>
        </p:nvSpPr>
        <p:spPr>
          <a:xfrm>
            <a:off x="9220200" y="1428750"/>
            <a:ext cx="1714500" cy="1714500"/>
          </a:xfrm>
          <a:prstGeom prst="rect">
            <a:avLst/>
          </a:prstGeom>
          <a:solidFill>
            <a:srgbClr val="FFFFFF"/>
          </a:solidFill>
          <a:ln w="0">
            <a:solidFill>
              <a:srgbClr val="FFFFFF"/>
            </a:solidFill>
            <a:prstDash val="solid"/>
          </a:ln>
        </p:spPr>
      </p:sp>
      <p:sp>
        <p:nvSpPr>
          <p:cNvPr id="7" name="thank-you">
            <a:extLst>
              <a:ext uri="{FF2B5EF4-FFF2-40B4-BE49-F238E27FC236}">
                <a16:creationId xmlns:a16="http://schemas.microsoft.com/office/drawing/2014/main" id="{774343D4-8760-4A58-82F0-89ACBCFDBB38}"/>
              </a:ext>
            </a:extLst>
          </p:cNvPr>
          <p:cNvSpPr>
            <a:spLocks noGrp="1"/>
          </p:cNvSpPr>
          <p:nvPr/>
        </p:nvSpPr>
        <p:spPr>
          <a:xfrm>
            <a:off x="9477375" y="1828800"/>
            <a:ext cx="1200150" cy="8382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2400" b="1">
                <a:solidFill>
                  <a:srgbClr val="17324D"/>
                </a:solidFill>
                <a:latin typeface="Aptos Display"/>
                <a:ea typeface="Aptos Display"/>
                <a:cs typeface="Aptos Display"/>
              </a:defRPr>
            </a:pPr>
            <a:r>
              <a:rPr sz="2400" b="1">
                <a:solidFill>
                  <a:srgbClr val="17324D"/>
                </a:solidFill>
                <a:latin typeface="Aptos Display"/>
                <a:ea typeface="Aptos Display"/>
                <a:cs typeface="Aptos Display"/>
              </a:rPr>
              <a:t>Thank</a:t>
            </a:r>
          </a:p>
          <a:p>
            <a:pPr algn="ctr">
              <a:defRPr sz="2400" b="1">
                <a:solidFill>
                  <a:srgbClr val="17324D"/>
                </a:solidFill>
                <a:latin typeface="Aptos Display"/>
                <a:ea typeface="Aptos Display"/>
                <a:cs typeface="Aptos Display"/>
              </a:defRPr>
            </a:pPr>
            <a:r>
              <a:rPr sz="2400" b="1">
                <a:solidFill>
                  <a:srgbClr val="17324D"/>
                </a:solidFill>
                <a:latin typeface="Aptos Display"/>
                <a:ea typeface="Aptos Display"/>
                <a:cs typeface="Aptos Display"/>
              </a:rPr>
              <a:t>You</a:t>
            </a:r>
          </a:p>
        </p:txBody>
      </p:sp>
      <p:sp>
        <p:nvSpPr>
          <p:cNvPr id="8" name="questions">
            <a:extLst>
              <a:ext uri="{FF2B5EF4-FFF2-40B4-BE49-F238E27FC236}">
                <a16:creationId xmlns:a16="http://schemas.microsoft.com/office/drawing/2014/main" id="{73CC6961-45BB-4D4E-945C-0FCCF6105611}"/>
              </a:ext>
            </a:extLst>
          </p:cNvPr>
          <p:cNvSpPr>
            <a:spLocks noGrp="1"/>
          </p:cNvSpPr>
          <p:nvPr/>
        </p:nvSpPr>
        <p:spPr>
          <a:xfrm>
            <a:off x="609600" y="5715000"/>
            <a:ext cx="400050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0">
                <a:solidFill>
                  <a:srgbClr val="D9E5EF"/>
                </a:solidFill>
                <a:latin typeface="Aptos"/>
                <a:ea typeface="Aptos"/>
                <a:cs typeface="Aptos"/>
              </a:defRPr>
            </a:pPr>
            <a:r>
              <a:rPr sz="1350" b="0">
                <a:solidFill>
                  <a:srgbClr val="D9E5EF"/>
                </a:solidFill>
                <a:latin typeface="Aptos"/>
                <a:ea typeface="Aptos"/>
                <a:cs typeface="Aptos"/>
              </a:rPr>
              <a:t>Questions and discussion</a:t>
            </a:r>
          </a:p>
        </p:txBody>
      </p:sp>
      <p:sp>
        <p:nvSpPr>
          <p:cNvPr id="9" name="footer">
            <a:extLst>
              <a:ext uri="{FF2B5EF4-FFF2-40B4-BE49-F238E27FC236}">
                <a16:creationId xmlns:a16="http://schemas.microsoft.com/office/drawing/2014/main" id="{23490465-A9A3-4556-98A0-C370A2FC1EA6}"/>
              </a:ext>
            </a:extLst>
          </p:cNvPr>
          <p:cNvSpPr>
            <a:spLocks noGrp="1"/>
          </p:cNvSpPr>
          <p:nvPr/>
        </p:nvSpPr>
        <p:spPr>
          <a:xfrm>
            <a:off x="609600" y="6515100"/>
            <a:ext cx="49530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0">
                <a:solidFill>
                  <a:srgbClr val="7A8793"/>
                </a:solidFill>
                <a:latin typeface="Aptos"/>
                <a:ea typeface="Aptos"/>
                <a:cs typeface="Aptos"/>
              </a:defRPr>
            </a:pPr>
            <a:r>
              <a:rPr sz="750" b="0">
                <a:solidFill>
                  <a:srgbClr val="7A8793"/>
                </a:solidFill>
                <a:latin typeface="Aptos"/>
                <a:ea typeface="Aptos"/>
                <a:cs typeface="Aptos"/>
              </a:rPr>
              <a:t>AI Based Diagram Maker</a:t>
            </a:r>
          </a:p>
        </p:txBody>
      </p:sp>
    </p:spTree>
    <p:extLst>
      <p:ext uri="{BB962C8B-B14F-4D97-AF65-F5344CB8AC3E}">
        <p14:creationId xmlns:p14="http://schemas.microsoft.com/office/powerpoint/2010/main" val="1872764694"/>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950</Words>
  <Application>Microsoft Office PowerPoint</Application>
  <DocSecurity>0</DocSecurity>
  <PresentationFormat>Widescreen</PresentationFormat>
  <Paragraphs>106</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Aptos</vt:lpstr>
      <vt:lpstr>Aptos Display</vt: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Orion 101</cp:lastModifiedBy>
  <cp:revision>1</cp:revision>
  <dcterms:created xsi:type="dcterms:W3CDTF">2026-06-19T15:02:23Z</dcterms:created>
  <dcterms:modified xsi:type="dcterms:W3CDTF">2026-06-19T15:28:40Z</dcterms:modified>
</cp:coreProperties>
</file>